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Times New Roman Bold" charset="1" panose="02020803070505020304"/>
      <p:regular r:id="rId29"/>
    </p:embeddedFont>
    <p:embeddedFont>
      <p:font typeface="Times New Roman" charset="1" panose="02020603050405020304"/>
      <p:regular r:id="rId30"/>
    </p:embeddedFont>
    <p:embeddedFont>
      <p:font typeface="Canva Sans" charset="1" panose="020B0503030501040103"/>
      <p:regular r:id="rId31"/>
    </p:embeddedFont>
    <p:embeddedFont>
      <p:font typeface="Canva Sans Bold" charset="1" panose="020B0803030501040103"/>
      <p:regular r:id="rId32"/>
    </p:embeddedFont>
    <p:embeddedFont>
      <p:font typeface="Times New Roman Italics" charset="1" panose="020205030504050903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https://ieeexplore.ieee.org/document/5438870" TargetMode="External" Type="http://schemas.openxmlformats.org/officeDocument/2006/relationships/hyperlink"/><Relationship Id="rId3" Target="https://ieeexplore.ieee.org/" TargetMode="External" Type="http://schemas.openxmlformats.org/officeDocument/2006/relationships/hyperlink"/><Relationship Id="rId4" Target="https://www.pearson.com/" TargetMode="External" Type="http://schemas.openxmlformats.org/officeDocument/2006/relationships/hyperlink"/><Relationship Id="rId5" Target="https://www.wiley.com/" TargetMode="External" Type="http://schemas.openxmlformats.org/officeDocument/2006/relationships/hyperlink"/><Relationship Id="rId6" Target="https://www.elsevier.com/" TargetMode="External" Type="http://schemas.openxmlformats.org/officeDocument/2006/relationships/hyperlink"/><Relationship Id="rId7" Target="https://ieeexplore.ieee.org/" TargetMode="External" Type="http://schemas.openxmlformats.org/officeDocument/2006/relationships/hyperlink"/><Relationship Id="rId8" Target="https://www.researchgate.net/" TargetMode="External" Type="http://schemas.openxmlformats.org/officeDocument/2006/relationships/hyperlink"/></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69543" y="294637"/>
            <a:ext cx="15235238" cy="602618"/>
          </a:xfrm>
          <a:prstGeom prst="rect">
            <a:avLst/>
          </a:prstGeom>
        </p:spPr>
        <p:txBody>
          <a:bodyPr anchor="t" rtlCol="false" tIns="0" lIns="0" bIns="0" rIns="0">
            <a:spAutoFit/>
          </a:bodyPr>
          <a:lstStyle/>
          <a:p>
            <a:pPr algn="l">
              <a:lnSpc>
                <a:spcPts val="4320"/>
              </a:lnSpc>
            </a:pPr>
            <a:r>
              <a:rPr lang="en-US" sz="3600" b="true">
                <a:solidFill>
                  <a:srgbClr val="C00000"/>
                </a:solidFill>
                <a:latin typeface="Times New Roman Bold"/>
                <a:ea typeface="Times New Roman Bold"/>
                <a:cs typeface="Times New Roman Bold"/>
                <a:sym typeface="Times New Roman Bold"/>
              </a:rPr>
              <a:t>RAJIV GANDHI UNIVERSITY OF KNOWLEDGE AND TECHNOLOGIES</a:t>
            </a:r>
          </a:p>
        </p:txBody>
      </p:sp>
      <p:sp>
        <p:nvSpPr>
          <p:cNvPr name="TextBox 3" id="3"/>
          <p:cNvSpPr txBox="true"/>
          <p:nvPr/>
        </p:nvSpPr>
        <p:spPr>
          <a:xfrm rot="0">
            <a:off x="250698" y="1153858"/>
            <a:ext cx="16585882" cy="4530799"/>
          </a:xfrm>
          <a:prstGeom prst="rect">
            <a:avLst/>
          </a:prstGeom>
        </p:spPr>
        <p:txBody>
          <a:bodyPr anchor="t" rtlCol="false" tIns="0" lIns="0" bIns="0" rIns="0">
            <a:spAutoFit/>
          </a:bodyPr>
          <a:lstStyle/>
          <a:p>
            <a:pPr algn="ctr">
              <a:lnSpc>
                <a:spcPts val="3585"/>
              </a:lnSpc>
            </a:pPr>
            <a:r>
              <a:rPr lang="en-US" b="true" sz="3000" spc="-15">
                <a:solidFill>
                  <a:srgbClr val="FF0000"/>
                </a:solidFill>
                <a:latin typeface="Times New Roman Bold"/>
                <a:ea typeface="Times New Roman Bold"/>
                <a:cs typeface="Times New Roman Bold"/>
                <a:sym typeface="Times New Roman Bold"/>
              </a:rPr>
              <a:t>Department of</a:t>
            </a:r>
          </a:p>
          <a:p>
            <a:pPr algn="ctr">
              <a:lnSpc>
                <a:spcPts val="4305"/>
              </a:lnSpc>
            </a:pPr>
            <a:r>
              <a:rPr lang="en-US" b="true" sz="3600" spc="-15">
                <a:solidFill>
                  <a:srgbClr val="FF0000"/>
                </a:solidFill>
                <a:latin typeface="Times New Roman Bold"/>
                <a:ea typeface="Times New Roman Bold"/>
                <a:cs typeface="Times New Roman Bold"/>
                <a:sym typeface="Times New Roman Bold"/>
              </a:rPr>
              <a:t>ELECTRICAL AND ELECTRONICS	ENGINEERING</a:t>
            </a:r>
          </a:p>
          <a:p>
            <a:pPr algn="l">
              <a:lnSpc>
                <a:spcPts val="5759"/>
              </a:lnSpc>
            </a:pPr>
          </a:p>
          <a:p>
            <a:pPr algn="ctr">
              <a:lnSpc>
                <a:spcPts val="5523"/>
              </a:lnSpc>
            </a:pPr>
            <a:r>
              <a:rPr lang="en-US" b="true" sz="4800" spc="-15">
                <a:solidFill>
                  <a:srgbClr val="6E2E9F"/>
                </a:solidFill>
                <a:latin typeface="Times New Roman Bold"/>
                <a:ea typeface="Times New Roman Bold"/>
                <a:cs typeface="Times New Roman Bold"/>
                <a:sym typeface="Times New Roman Bold"/>
              </a:rPr>
              <a:t>DESIGN AND IMPLEMENTATION OF A 21-LEVEL ASYMMETRIC CASCADED H-BRIDGE MULTILEVEL INVERTER WITH REDUCED SWITCH COUNT FOR GRID CONNECTED SOALR ENERGY</a:t>
            </a:r>
          </a:p>
        </p:txBody>
      </p:sp>
      <p:sp>
        <p:nvSpPr>
          <p:cNvPr name="TextBox 4" id="4"/>
          <p:cNvSpPr txBox="true"/>
          <p:nvPr/>
        </p:nvSpPr>
        <p:spPr>
          <a:xfrm rot="0">
            <a:off x="1490167" y="6203632"/>
            <a:ext cx="4845368" cy="2797492"/>
          </a:xfrm>
          <a:prstGeom prst="rect">
            <a:avLst/>
          </a:prstGeom>
        </p:spPr>
        <p:txBody>
          <a:bodyPr anchor="t" rtlCol="false" tIns="0" lIns="0" bIns="0" rIns="0">
            <a:spAutoFit/>
          </a:bodyPr>
          <a:lstStyle/>
          <a:p>
            <a:pPr algn="l">
              <a:lnSpc>
                <a:spcPts val="3562"/>
              </a:lnSpc>
            </a:pPr>
            <a:r>
              <a:rPr lang="en-US" sz="3000" b="true">
                <a:solidFill>
                  <a:srgbClr val="000000"/>
                </a:solidFill>
                <a:latin typeface="Times New Roman Bold"/>
                <a:ea typeface="Times New Roman Bold"/>
                <a:cs typeface="Times New Roman Bold"/>
                <a:sym typeface="Times New Roman Bold"/>
              </a:rPr>
              <a:t>Presented by </a:t>
            </a:r>
            <a:r>
              <a:rPr lang="en-US" sz="3000">
                <a:solidFill>
                  <a:srgbClr val="000000"/>
                </a:solidFill>
                <a:latin typeface="Times New Roman"/>
                <a:ea typeface="Times New Roman"/>
                <a:cs typeface="Times New Roman"/>
                <a:sym typeface="Times New Roman"/>
              </a:rPr>
              <a:t>:</a:t>
            </a:r>
          </a:p>
          <a:p>
            <a:pPr algn="l">
              <a:lnSpc>
                <a:spcPts val="3562"/>
              </a:lnSpc>
            </a:pPr>
            <a:r>
              <a:rPr lang="en-US" sz="3000" spc="-15">
                <a:solidFill>
                  <a:srgbClr val="000000"/>
                </a:solidFill>
                <a:latin typeface="Times New Roman"/>
                <a:ea typeface="Times New Roman"/>
                <a:cs typeface="Times New Roman"/>
                <a:sym typeface="Times New Roman"/>
              </a:rPr>
              <a:t>V.Tanooja (RO20O417),</a:t>
            </a:r>
          </a:p>
          <a:p>
            <a:pPr algn="l">
              <a:lnSpc>
                <a:spcPts val="3621"/>
              </a:lnSpc>
            </a:pPr>
            <a:r>
              <a:rPr lang="en-US" sz="3000" spc="-15">
                <a:solidFill>
                  <a:srgbClr val="000000"/>
                </a:solidFill>
                <a:latin typeface="Times New Roman"/>
                <a:ea typeface="Times New Roman"/>
                <a:cs typeface="Times New Roman"/>
                <a:sym typeface="Times New Roman"/>
              </a:rPr>
              <a:t>P.Lakshmi Durga (RO200796), G.Kusuma (RO200685), M.Chandu (RO200105),</a:t>
            </a:r>
          </a:p>
          <a:p>
            <a:pPr algn="l">
              <a:lnSpc>
                <a:spcPts val="3600"/>
              </a:lnSpc>
            </a:pPr>
            <a:r>
              <a:rPr lang="en-US" sz="3000" spc="-15">
                <a:solidFill>
                  <a:srgbClr val="000000"/>
                </a:solidFill>
                <a:latin typeface="Times New Roman"/>
                <a:ea typeface="Times New Roman"/>
                <a:cs typeface="Times New Roman"/>
                <a:sym typeface="Times New Roman"/>
              </a:rPr>
              <a:t>CH.Ratan Kumar (RO200873),</a:t>
            </a:r>
          </a:p>
        </p:txBody>
      </p:sp>
      <p:sp>
        <p:nvSpPr>
          <p:cNvPr name="TextBox 5" id="5"/>
          <p:cNvSpPr txBox="true"/>
          <p:nvPr/>
        </p:nvSpPr>
        <p:spPr>
          <a:xfrm rot="0">
            <a:off x="10645521" y="6247952"/>
            <a:ext cx="3855720" cy="1403671"/>
          </a:xfrm>
          <a:prstGeom prst="rect">
            <a:avLst/>
          </a:prstGeom>
        </p:spPr>
        <p:txBody>
          <a:bodyPr anchor="t" rtlCol="false" tIns="0" lIns="0" bIns="0" rIns="0">
            <a:spAutoFit/>
          </a:bodyPr>
          <a:lstStyle/>
          <a:p>
            <a:pPr algn="l">
              <a:lnSpc>
                <a:spcPts val="3564"/>
              </a:lnSpc>
            </a:pPr>
            <a:r>
              <a:rPr lang="en-US" sz="3000" b="true">
                <a:solidFill>
                  <a:srgbClr val="000000"/>
                </a:solidFill>
                <a:latin typeface="Times New Roman Bold"/>
                <a:ea typeface="Times New Roman Bold"/>
                <a:cs typeface="Times New Roman Bold"/>
                <a:sym typeface="Times New Roman Bold"/>
              </a:rPr>
              <a:t>Under the Guidance of: </a:t>
            </a:r>
            <a:r>
              <a:rPr lang="en-US" sz="3000">
                <a:solidFill>
                  <a:srgbClr val="000000"/>
                </a:solidFill>
                <a:latin typeface="Times New Roman"/>
                <a:ea typeface="Times New Roman"/>
                <a:cs typeface="Times New Roman"/>
                <a:sym typeface="Times New Roman"/>
              </a:rPr>
              <a:t>Ms.Grace Mary , Assistant professor</a:t>
            </a:r>
          </a:p>
        </p:txBody>
      </p:sp>
      <p:grpSp>
        <p:nvGrpSpPr>
          <p:cNvPr name="Group 6" id="6"/>
          <p:cNvGrpSpPr/>
          <p:nvPr/>
        </p:nvGrpSpPr>
        <p:grpSpPr>
          <a:xfrm rot="0">
            <a:off x="16402050" y="164840"/>
            <a:ext cx="1691640" cy="1724920"/>
            <a:chOff x="0" y="0"/>
            <a:chExt cx="2255520" cy="2299894"/>
          </a:xfrm>
        </p:grpSpPr>
        <p:sp>
          <p:nvSpPr>
            <p:cNvPr name="Freeform 7" id="7"/>
            <p:cNvSpPr/>
            <p:nvPr/>
          </p:nvSpPr>
          <p:spPr>
            <a:xfrm flipH="false" flipV="false" rot="0">
              <a:off x="0" y="0"/>
              <a:ext cx="2255520" cy="2299843"/>
            </a:xfrm>
            <a:custGeom>
              <a:avLst/>
              <a:gdLst/>
              <a:ahLst/>
              <a:cxnLst/>
              <a:rect r="r" b="b" t="t" l="l"/>
              <a:pathLst>
                <a:path h="2299843" w="2255520">
                  <a:moveTo>
                    <a:pt x="0" y="0"/>
                  </a:moveTo>
                  <a:lnTo>
                    <a:pt x="2255520" y="0"/>
                  </a:lnTo>
                  <a:lnTo>
                    <a:pt x="2255520" y="2299843"/>
                  </a:lnTo>
                  <a:lnTo>
                    <a:pt x="0" y="2299843"/>
                  </a:lnTo>
                  <a:lnTo>
                    <a:pt x="0" y="0"/>
                  </a:lnTo>
                  <a:close/>
                </a:path>
              </a:pathLst>
            </a:custGeom>
            <a:blipFill>
              <a:blip r:embed="rId2"/>
              <a:stretch>
                <a:fillRect l="0" t="-78" r="0" b="-81"/>
              </a:stretch>
            </a:blipFill>
          </p:spPr>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75867" y="1142228"/>
            <a:ext cx="2961322" cy="686114"/>
          </a:xfrm>
          <a:prstGeom prst="rect">
            <a:avLst/>
          </a:prstGeom>
        </p:spPr>
        <p:txBody>
          <a:bodyPr anchor="t" rtlCol="false" tIns="0" lIns="0" bIns="0" rIns="0">
            <a:spAutoFit/>
          </a:bodyPr>
          <a:lstStyle/>
          <a:p>
            <a:pPr algn="l">
              <a:lnSpc>
                <a:spcPts val="5040"/>
              </a:lnSpc>
            </a:pPr>
            <a:r>
              <a:rPr lang="en-US" b="true" sz="4200" spc="-15">
                <a:solidFill>
                  <a:srgbClr val="000000"/>
                </a:solidFill>
                <a:latin typeface="Times New Roman Bold"/>
                <a:ea typeface="Times New Roman Bold"/>
                <a:cs typeface="Times New Roman Bold"/>
                <a:sym typeface="Times New Roman Bold"/>
              </a:rPr>
              <a:t>CONTENTS</a:t>
            </a:r>
          </a:p>
        </p:txBody>
      </p:sp>
      <p:sp>
        <p:nvSpPr>
          <p:cNvPr name="TextBox 3" id="3"/>
          <p:cNvSpPr txBox="true"/>
          <p:nvPr/>
        </p:nvSpPr>
        <p:spPr>
          <a:xfrm rot="0">
            <a:off x="1375867" y="2030111"/>
            <a:ext cx="5010885" cy="7455720"/>
          </a:xfrm>
          <a:prstGeom prst="rect">
            <a:avLst/>
          </a:prstGeom>
        </p:spPr>
        <p:txBody>
          <a:bodyPr anchor="t" rtlCol="false" tIns="0" lIns="0" bIns="0" rIns="0">
            <a:spAutoFit/>
          </a:bodyPr>
          <a:lstStyle/>
          <a:p>
            <a:pPr algn="l" marL="781091" indent="-390546" lvl="1">
              <a:lnSpc>
                <a:spcPts val="5003"/>
              </a:lnSpc>
              <a:buAutoNum type="arabicPeriod" startAt="1"/>
            </a:pPr>
            <a:r>
              <a:rPr lang="en-US" sz="4169" spc="-20">
                <a:solidFill>
                  <a:srgbClr val="000000"/>
                </a:solidFill>
                <a:latin typeface="Times New Roman"/>
                <a:ea typeface="Times New Roman"/>
                <a:cs typeface="Times New Roman"/>
                <a:sym typeface="Times New Roman"/>
              </a:rPr>
              <a:t>Introduction</a:t>
            </a:r>
          </a:p>
          <a:p>
            <a:pPr algn="l" marL="781091" indent="-390546" lvl="1">
              <a:lnSpc>
                <a:spcPts val="5003"/>
              </a:lnSpc>
              <a:buAutoNum type="arabicPeriod" startAt="1"/>
            </a:pPr>
            <a:r>
              <a:rPr lang="en-US" sz="4169" spc="-20">
                <a:solidFill>
                  <a:srgbClr val="000000"/>
                </a:solidFill>
                <a:latin typeface="Times New Roman"/>
                <a:ea typeface="Times New Roman"/>
                <a:cs typeface="Times New Roman"/>
                <a:sym typeface="Times New Roman"/>
              </a:rPr>
              <a:t>Objective</a:t>
            </a:r>
          </a:p>
          <a:p>
            <a:pPr algn="l" marL="781091" indent="-390546" lvl="1">
              <a:lnSpc>
                <a:spcPts val="5003"/>
              </a:lnSpc>
              <a:buAutoNum type="arabicPeriod" startAt="1"/>
            </a:pPr>
            <a:r>
              <a:rPr lang="en-US" sz="4169" spc="-20">
                <a:solidFill>
                  <a:srgbClr val="000000"/>
                </a:solidFill>
                <a:latin typeface="Times New Roman"/>
                <a:ea typeface="Times New Roman"/>
                <a:cs typeface="Times New Roman"/>
                <a:sym typeface="Times New Roman"/>
              </a:rPr>
              <a:t>Block Diagram</a:t>
            </a:r>
          </a:p>
          <a:p>
            <a:pPr algn="l" marL="781091" indent="-390546" lvl="1">
              <a:lnSpc>
                <a:spcPts val="5003"/>
              </a:lnSpc>
              <a:buAutoNum type="arabicPeriod" startAt="1"/>
            </a:pPr>
            <a:r>
              <a:rPr lang="en-US" sz="4169" spc="-20">
                <a:solidFill>
                  <a:srgbClr val="000000"/>
                </a:solidFill>
                <a:latin typeface="Times New Roman"/>
                <a:ea typeface="Times New Roman"/>
                <a:cs typeface="Times New Roman"/>
                <a:sym typeface="Times New Roman"/>
              </a:rPr>
              <a:t>Components</a:t>
            </a:r>
          </a:p>
          <a:p>
            <a:pPr algn="l" marL="781091" indent="-390546" lvl="1">
              <a:lnSpc>
                <a:spcPts val="5003"/>
              </a:lnSpc>
              <a:buAutoNum type="arabicPeriod" startAt="1"/>
            </a:pPr>
            <a:r>
              <a:rPr lang="en-US" sz="4169" spc="-20">
                <a:solidFill>
                  <a:srgbClr val="000000"/>
                </a:solidFill>
                <a:latin typeface="Times New Roman"/>
                <a:ea typeface="Times New Roman"/>
                <a:cs typeface="Times New Roman"/>
                <a:sym typeface="Times New Roman"/>
              </a:rPr>
              <a:t>Circuit Diagram</a:t>
            </a:r>
          </a:p>
          <a:p>
            <a:pPr algn="l" marL="781091" indent="-390546" lvl="1">
              <a:lnSpc>
                <a:spcPts val="5003"/>
              </a:lnSpc>
              <a:buAutoNum type="arabicPeriod" startAt="1"/>
            </a:pPr>
            <a:r>
              <a:rPr lang="en-US" sz="4169" spc="-20">
                <a:solidFill>
                  <a:srgbClr val="000000"/>
                </a:solidFill>
                <a:latin typeface="Times New Roman"/>
                <a:ea typeface="Times New Roman"/>
                <a:cs typeface="Times New Roman"/>
                <a:sym typeface="Times New Roman"/>
              </a:rPr>
              <a:t>Working principle</a:t>
            </a:r>
          </a:p>
          <a:p>
            <a:pPr algn="l" marL="781091" indent="-390546" lvl="1">
              <a:lnSpc>
                <a:spcPts val="5003"/>
              </a:lnSpc>
              <a:buAutoNum type="arabicPeriod" startAt="1"/>
            </a:pPr>
            <a:r>
              <a:rPr lang="en-US" sz="4169" spc="-20">
                <a:solidFill>
                  <a:srgbClr val="000000"/>
                </a:solidFill>
                <a:latin typeface="Times New Roman"/>
                <a:ea typeface="Times New Roman"/>
                <a:cs typeface="Times New Roman"/>
                <a:sym typeface="Times New Roman"/>
              </a:rPr>
              <a:t>Results</a:t>
            </a:r>
          </a:p>
          <a:p>
            <a:pPr algn="l" marL="781091" indent="-390546" lvl="1">
              <a:lnSpc>
                <a:spcPts val="5003"/>
              </a:lnSpc>
              <a:buAutoNum type="arabicPeriod" startAt="1"/>
            </a:pPr>
            <a:r>
              <a:rPr lang="en-US" sz="4169" spc="-20">
                <a:solidFill>
                  <a:srgbClr val="000000"/>
                </a:solidFill>
                <a:latin typeface="Times New Roman"/>
                <a:ea typeface="Times New Roman"/>
                <a:cs typeface="Times New Roman"/>
                <a:sym typeface="Times New Roman"/>
              </a:rPr>
              <a:t>Applications</a:t>
            </a:r>
          </a:p>
          <a:p>
            <a:pPr algn="l" marL="781091" indent="-390546" lvl="1">
              <a:lnSpc>
                <a:spcPts val="5003"/>
              </a:lnSpc>
              <a:buAutoNum type="arabicPeriod" startAt="1"/>
            </a:pPr>
            <a:r>
              <a:rPr lang="en-US" sz="4169" spc="-20">
                <a:solidFill>
                  <a:srgbClr val="000000"/>
                </a:solidFill>
                <a:latin typeface="Times New Roman"/>
                <a:ea typeface="Times New Roman"/>
                <a:cs typeface="Times New Roman"/>
                <a:sym typeface="Times New Roman"/>
              </a:rPr>
              <a:t>References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86663" y="583692"/>
            <a:ext cx="3927158" cy="548640"/>
          </a:xfrm>
          <a:prstGeom prst="rect">
            <a:avLst/>
          </a:prstGeom>
        </p:spPr>
        <p:txBody>
          <a:bodyPr anchor="t" rtlCol="false" tIns="0" lIns="0" bIns="0" rIns="0">
            <a:spAutoFit/>
          </a:bodyPr>
          <a:lstStyle/>
          <a:p>
            <a:pPr algn="l">
              <a:lnSpc>
                <a:spcPts val="3960"/>
              </a:lnSpc>
            </a:pPr>
            <a:r>
              <a:rPr lang="en-US" b="true" sz="3300" spc="322">
                <a:solidFill>
                  <a:srgbClr val="000000"/>
                </a:solidFill>
                <a:latin typeface="Times New Roman Bold"/>
                <a:ea typeface="Times New Roman Bold"/>
                <a:cs typeface="Times New Roman Bold"/>
                <a:sym typeface="Times New Roman Bold"/>
              </a:rPr>
              <a:t>INTRODUCTION</a:t>
            </a:r>
          </a:p>
        </p:txBody>
      </p:sp>
      <p:sp>
        <p:nvSpPr>
          <p:cNvPr name="TextBox 3" id="3"/>
          <p:cNvSpPr txBox="true"/>
          <p:nvPr/>
        </p:nvSpPr>
        <p:spPr>
          <a:xfrm rot="0">
            <a:off x="250698" y="1621345"/>
            <a:ext cx="17728882" cy="6611303"/>
          </a:xfrm>
          <a:prstGeom prst="rect">
            <a:avLst/>
          </a:prstGeom>
        </p:spPr>
        <p:txBody>
          <a:bodyPr anchor="t" rtlCol="false" tIns="0" lIns="0" bIns="0" rIns="0">
            <a:spAutoFit/>
          </a:bodyPr>
          <a:lstStyle/>
          <a:p>
            <a:pPr algn="l">
              <a:lnSpc>
                <a:spcPts val="3465"/>
              </a:lnSpc>
            </a:pPr>
            <a:r>
              <a:rPr lang="en-US" sz="3000">
                <a:solidFill>
                  <a:srgbClr val="000000"/>
                </a:solidFill>
                <a:latin typeface="Times New Roman"/>
                <a:ea typeface="Times New Roman"/>
                <a:cs typeface="Times New Roman"/>
                <a:sym typeface="Times New Roman"/>
              </a:rPr>
              <a:t>The increasing demand for clean and sustainable energy has led to the rapid growth of solar photovoltaic (PV) systems. Efficient power conversion is essential for integrating solar energy into the grid.</a:t>
            </a:r>
          </a:p>
          <a:p>
            <a:pPr algn="l">
              <a:lnSpc>
                <a:spcPts val="3285"/>
              </a:lnSpc>
            </a:pPr>
            <a:r>
              <a:rPr lang="en-US" sz="3000">
                <a:solidFill>
                  <a:srgbClr val="000000"/>
                </a:solidFill>
                <a:latin typeface="Times New Roman"/>
                <a:ea typeface="Times New Roman"/>
                <a:cs typeface="Times New Roman"/>
                <a:sym typeface="Times New Roman"/>
              </a:rPr>
              <a:t>This project presents the design and implementation of a </a:t>
            </a:r>
            <a:r>
              <a:rPr lang="en-US" sz="3000" b="true">
                <a:solidFill>
                  <a:srgbClr val="000000"/>
                </a:solidFill>
                <a:latin typeface="Times New Roman Bold"/>
                <a:ea typeface="Times New Roman Bold"/>
                <a:cs typeface="Times New Roman Bold"/>
                <a:sym typeface="Times New Roman Bold"/>
              </a:rPr>
              <a:t>21-level asymmetric cascaded H-bridge multilevel</a:t>
            </a:r>
          </a:p>
          <a:p>
            <a:pPr algn="l">
              <a:lnSpc>
                <a:spcPts val="3525"/>
              </a:lnSpc>
            </a:pPr>
            <a:r>
              <a:rPr lang="en-US" sz="3000" b="true">
                <a:solidFill>
                  <a:srgbClr val="000000"/>
                </a:solidFill>
                <a:latin typeface="Times New Roman Bold"/>
                <a:ea typeface="Times New Roman Bold"/>
                <a:cs typeface="Times New Roman Bold"/>
                <a:sym typeface="Times New Roman Bold"/>
              </a:rPr>
              <a:t>inverter with reduced switch count </a:t>
            </a:r>
            <a:r>
              <a:rPr lang="en-US" sz="3000">
                <a:solidFill>
                  <a:srgbClr val="000000"/>
                </a:solidFill>
                <a:latin typeface="Times New Roman"/>
                <a:ea typeface="Times New Roman"/>
                <a:cs typeface="Times New Roman"/>
                <a:sym typeface="Times New Roman"/>
              </a:rPr>
              <a:t>for gridconnected solar energy applications.</a:t>
            </a:r>
          </a:p>
          <a:p>
            <a:pPr algn="l">
              <a:lnSpc>
                <a:spcPts val="3600"/>
              </a:lnSpc>
            </a:pPr>
          </a:p>
          <a:p>
            <a:pPr algn="l">
              <a:lnSpc>
                <a:spcPts val="3445"/>
              </a:lnSpc>
            </a:pPr>
            <a:r>
              <a:rPr lang="en-US" sz="3000">
                <a:solidFill>
                  <a:srgbClr val="000000"/>
                </a:solidFill>
                <a:latin typeface="Times New Roman"/>
                <a:ea typeface="Times New Roman"/>
                <a:cs typeface="Times New Roman"/>
                <a:sym typeface="Times New Roman"/>
              </a:rPr>
              <a:t>The proposed inverter utilizes an asymmetric configuration of DC sources to generate multiple voltage levels with fewer components, thereby reducing the number of power switches, system cost, and switching losses. The multilevel structure produces a stepped output waveform that closely resembles a sinusoidal waveform, resulting in low Total Harmonic Distortion (THD) and improved power quality.</a:t>
            </a:r>
          </a:p>
          <a:p>
            <a:pPr algn="l">
              <a:lnSpc>
                <a:spcPts val="3600"/>
              </a:lnSpc>
            </a:pPr>
          </a:p>
          <a:p>
            <a:pPr algn="l">
              <a:lnSpc>
                <a:spcPts val="3448"/>
              </a:lnSpc>
            </a:pPr>
            <a:r>
              <a:rPr lang="en-US" sz="3000">
                <a:solidFill>
                  <a:srgbClr val="000000"/>
                </a:solidFill>
                <a:latin typeface="Times New Roman"/>
                <a:ea typeface="Times New Roman"/>
                <a:cs typeface="Times New Roman"/>
                <a:sym typeface="Times New Roman"/>
              </a:rPr>
              <a:t>A Pulse Width Modulation (PWM) technique is employed to control the switching operation of the inverter, while a PI controller is used to regulate the output voltage and ensure stable operation. The system is modeled and simulated using MATLAB/Simulink to evaluate its performance. The simulation results demonstrate that the proposed inverter achieves high efficiency, reduced harmonic distortion, and reliable performance for grid- connected applications.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95807" y="1196912"/>
            <a:ext cx="2835592" cy="548640"/>
          </a:xfrm>
          <a:prstGeom prst="rect">
            <a:avLst/>
          </a:prstGeom>
        </p:spPr>
        <p:txBody>
          <a:bodyPr anchor="t" rtlCol="false" tIns="0" lIns="0" bIns="0" rIns="0">
            <a:spAutoFit/>
          </a:bodyPr>
          <a:lstStyle/>
          <a:p>
            <a:pPr algn="l">
              <a:lnSpc>
                <a:spcPts val="3960"/>
              </a:lnSpc>
            </a:pPr>
            <a:r>
              <a:rPr lang="en-US" b="true" sz="3300" spc="300">
                <a:solidFill>
                  <a:srgbClr val="000000"/>
                </a:solidFill>
                <a:latin typeface="Times New Roman Bold"/>
                <a:ea typeface="Times New Roman Bold"/>
                <a:cs typeface="Times New Roman Bold"/>
                <a:sym typeface="Times New Roman Bold"/>
              </a:rPr>
              <a:t>OBJECTIVE</a:t>
            </a:r>
          </a:p>
        </p:txBody>
      </p:sp>
      <p:sp>
        <p:nvSpPr>
          <p:cNvPr name="TextBox 3" id="3"/>
          <p:cNvSpPr txBox="true"/>
          <p:nvPr/>
        </p:nvSpPr>
        <p:spPr>
          <a:xfrm rot="0">
            <a:off x="250698" y="1703642"/>
            <a:ext cx="18059400" cy="6611303"/>
          </a:xfrm>
          <a:prstGeom prst="rect">
            <a:avLst/>
          </a:prstGeom>
        </p:spPr>
        <p:txBody>
          <a:bodyPr anchor="t" rtlCol="false" tIns="0" lIns="0" bIns="0" rIns="0">
            <a:spAutoFit/>
          </a:bodyPr>
          <a:lstStyle/>
          <a:p>
            <a:pPr algn="l">
              <a:lnSpc>
                <a:spcPts val="3465"/>
              </a:lnSpc>
            </a:pPr>
            <a:r>
              <a:rPr lang="en-US" sz="3000">
                <a:solidFill>
                  <a:srgbClr val="000000"/>
                </a:solidFill>
                <a:latin typeface="Times New Roman"/>
                <a:ea typeface="Times New Roman"/>
                <a:cs typeface="Times New Roman"/>
                <a:sym typeface="Times New Roman"/>
              </a:rPr>
              <a:t>The main objective of this project is to design and implement a high-performance multilevel inverter suitable for grid- connected solar photovoltaic systems. The specific objectives are as</a:t>
            </a:r>
          </a:p>
          <a:p>
            <a:pPr algn="l">
              <a:lnSpc>
                <a:spcPts val="3285"/>
              </a:lnSpc>
            </a:pPr>
            <a:r>
              <a:rPr lang="en-US" sz="3000" spc="-15">
                <a:solidFill>
                  <a:srgbClr val="000000"/>
                </a:solidFill>
                <a:latin typeface="Times New Roman"/>
                <a:ea typeface="Times New Roman"/>
                <a:cs typeface="Times New Roman"/>
                <a:sym typeface="Times New Roman"/>
              </a:rPr>
              <a:t>follows:</a:t>
            </a:r>
          </a:p>
          <a:p>
            <a:pPr algn="l" marL="561975" indent="-280988" lvl="1">
              <a:lnSpc>
                <a:spcPts val="3465"/>
              </a:lnSpc>
              <a:buFont typeface="Arial"/>
              <a:buChar char="•"/>
            </a:pPr>
            <a:r>
              <a:rPr lang="en-US" sz="3000" spc="-15">
                <a:solidFill>
                  <a:srgbClr val="000000"/>
                </a:solidFill>
                <a:latin typeface="Times New Roman"/>
                <a:ea typeface="Times New Roman"/>
                <a:cs typeface="Times New Roman"/>
                <a:sym typeface="Times New Roman"/>
              </a:rPr>
              <a:t>To design a </a:t>
            </a:r>
            <a:r>
              <a:rPr lang="en-US" b="true" sz="3000" spc="-15">
                <a:solidFill>
                  <a:srgbClr val="000000"/>
                </a:solidFill>
                <a:latin typeface="Times New Roman Bold"/>
                <a:ea typeface="Times New Roman Bold"/>
                <a:cs typeface="Times New Roman Bold"/>
                <a:sym typeface="Times New Roman Bold"/>
              </a:rPr>
              <a:t>21-level asymmetric cascaded H-bridge multilevel inverter (ACHB-MLI) </a:t>
            </a:r>
            <a:r>
              <a:rPr lang="en-US" sz="3000" spc="-15">
                <a:solidFill>
                  <a:srgbClr val="000000"/>
                </a:solidFill>
                <a:latin typeface="Times New Roman"/>
                <a:ea typeface="Times New Roman"/>
                <a:cs typeface="Times New Roman"/>
                <a:sym typeface="Times New Roman"/>
              </a:rPr>
              <a:t>for improved power quality.</a:t>
            </a:r>
          </a:p>
          <a:p>
            <a:pPr algn="l" marL="561975" indent="-280988" lvl="1">
              <a:lnSpc>
                <a:spcPts val="3419"/>
              </a:lnSpc>
              <a:buFont typeface="Arial"/>
              <a:buChar char="•"/>
            </a:pPr>
            <a:r>
              <a:rPr lang="en-US" sz="3000" spc="-15">
                <a:solidFill>
                  <a:srgbClr val="000000"/>
                </a:solidFill>
                <a:latin typeface="Times New Roman"/>
                <a:ea typeface="Times New Roman"/>
                <a:cs typeface="Times New Roman"/>
                <a:sym typeface="Times New Roman"/>
              </a:rPr>
              <a:t>To reduce the number of power switches compared to conventional multilevel inverter topologies, thereby minimizing system cost and complexity.</a:t>
            </a:r>
          </a:p>
          <a:p>
            <a:pPr algn="l" marL="561975" indent="-280988" lvl="1">
              <a:lnSpc>
                <a:spcPts val="3307"/>
              </a:lnSpc>
              <a:buFont typeface="Arial"/>
              <a:buChar char="•"/>
            </a:pPr>
            <a:r>
              <a:rPr lang="en-US" sz="3000" spc="-15">
                <a:solidFill>
                  <a:srgbClr val="000000"/>
                </a:solidFill>
                <a:latin typeface="Times New Roman"/>
                <a:ea typeface="Times New Roman"/>
                <a:cs typeface="Times New Roman"/>
                <a:sym typeface="Times New Roman"/>
              </a:rPr>
              <a:t>To utilize </a:t>
            </a:r>
            <a:r>
              <a:rPr lang="en-US" b="true" sz="3000" spc="-15">
                <a:solidFill>
                  <a:srgbClr val="000000"/>
                </a:solidFill>
                <a:latin typeface="Times New Roman Bold"/>
                <a:ea typeface="Times New Roman Bold"/>
                <a:cs typeface="Times New Roman Bold"/>
                <a:sym typeface="Times New Roman Bold"/>
              </a:rPr>
              <a:t>asymmetric DC sources </a:t>
            </a:r>
            <a:r>
              <a:rPr lang="en-US" sz="3000" spc="-15">
                <a:solidFill>
                  <a:srgbClr val="000000"/>
                </a:solidFill>
                <a:latin typeface="Times New Roman"/>
                <a:ea typeface="Times New Roman"/>
                <a:cs typeface="Times New Roman"/>
                <a:sym typeface="Times New Roman"/>
              </a:rPr>
              <a:t>(solar PV panels) to generate a higher number of voltage levels efficiently.</a:t>
            </a:r>
          </a:p>
          <a:p>
            <a:pPr algn="l" marL="561975" indent="-280988" lvl="1">
              <a:lnSpc>
                <a:spcPts val="3457"/>
              </a:lnSpc>
              <a:buFont typeface="Arial"/>
              <a:buChar char="•"/>
            </a:pPr>
            <a:r>
              <a:rPr lang="en-US" sz="3000" spc="-15">
                <a:solidFill>
                  <a:srgbClr val="000000"/>
                </a:solidFill>
                <a:latin typeface="Times New Roman"/>
                <a:ea typeface="Times New Roman"/>
                <a:cs typeface="Times New Roman"/>
                <a:sym typeface="Times New Roman"/>
              </a:rPr>
              <a:t>To achieve a near-sinusoidal output voltage waveform with </a:t>
            </a:r>
            <a:r>
              <a:rPr lang="en-US" b="true" sz="3000" spc="-15">
                <a:solidFill>
                  <a:srgbClr val="000000"/>
                </a:solidFill>
                <a:latin typeface="Times New Roman Bold"/>
                <a:ea typeface="Times New Roman Bold"/>
                <a:cs typeface="Times New Roman Bold"/>
                <a:sym typeface="Times New Roman Bold"/>
              </a:rPr>
              <a:t>low Total Harmonic Distortion (THD)</a:t>
            </a:r>
            <a:r>
              <a:rPr lang="en-US" sz="3000" spc="-15">
                <a:solidFill>
                  <a:srgbClr val="000000"/>
                </a:solidFill>
                <a:latin typeface="Times New Roman"/>
                <a:ea typeface="Times New Roman"/>
                <a:cs typeface="Times New Roman"/>
                <a:sym typeface="Times New Roman"/>
              </a:rPr>
              <a:t>.</a:t>
            </a:r>
          </a:p>
          <a:p>
            <a:pPr algn="l" marL="561975" indent="-280988" lvl="1">
              <a:lnSpc>
                <a:spcPts val="3457"/>
              </a:lnSpc>
              <a:buFont typeface="Arial"/>
              <a:buChar char="•"/>
            </a:pPr>
            <a:r>
              <a:rPr lang="en-US" sz="3000" spc="-15">
                <a:solidFill>
                  <a:srgbClr val="000000"/>
                </a:solidFill>
                <a:latin typeface="Times New Roman"/>
                <a:ea typeface="Times New Roman"/>
                <a:cs typeface="Times New Roman"/>
                <a:sym typeface="Times New Roman"/>
              </a:rPr>
              <a:t>To reduce switching losses and improve the overall efficiency of the inverter system.</a:t>
            </a:r>
          </a:p>
          <a:p>
            <a:pPr algn="l" marL="561975" indent="-280988" lvl="1">
              <a:lnSpc>
                <a:spcPts val="3419"/>
              </a:lnSpc>
              <a:buFont typeface="Arial"/>
              <a:buChar char="•"/>
            </a:pPr>
            <a:r>
              <a:rPr lang="en-US" sz="3000" spc="-15">
                <a:solidFill>
                  <a:srgbClr val="000000"/>
                </a:solidFill>
                <a:latin typeface="Times New Roman"/>
                <a:ea typeface="Times New Roman"/>
                <a:cs typeface="Times New Roman"/>
                <a:sym typeface="Times New Roman"/>
              </a:rPr>
              <a:t>To develop appropriate </a:t>
            </a:r>
            <a:r>
              <a:rPr lang="en-US" b="true" sz="3000" spc="-15">
                <a:solidFill>
                  <a:srgbClr val="000000"/>
                </a:solidFill>
                <a:latin typeface="Times New Roman Bold"/>
                <a:ea typeface="Times New Roman Bold"/>
                <a:cs typeface="Times New Roman Bold"/>
                <a:sym typeface="Times New Roman Bold"/>
              </a:rPr>
              <a:t>switching and modulation techniques </a:t>
            </a:r>
            <a:r>
              <a:rPr lang="en-US" sz="3000" spc="-15">
                <a:solidFill>
                  <a:srgbClr val="000000"/>
                </a:solidFill>
                <a:latin typeface="Times New Roman"/>
                <a:ea typeface="Times New Roman"/>
                <a:cs typeface="Times New Roman"/>
                <a:sym typeface="Times New Roman"/>
              </a:rPr>
              <a:t>(such as PWM or SHE) for effective control of the inverter.</a:t>
            </a:r>
          </a:p>
          <a:p>
            <a:pPr algn="l" marL="561975" indent="-280988" lvl="1">
              <a:lnSpc>
                <a:spcPts val="3300"/>
              </a:lnSpc>
              <a:buFont typeface="Arial"/>
              <a:buChar char="•"/>
            </a:pPr>
            <a:r>
              <a:rPr lang="en-US" sz="3000" spc="-15">
                <a:solidFill>
                  <a:srgbClr val="000000"/>
                </a:solidFill>
                <a:latin typeface="Times New Roman"/>
                <a:ea typeface="Times New Roman"/>
                <a:cs typeface="Times New Roman"/>
                <a:sym typeface="Times New Roman"/>
              </a:rPr>
              <a:t>To simulate the proposed inverter using </a:t>
            </a:r>
            <a:r>
              <a:rPr lang="en-US" b="true" sz="3000" spc="-15">
                <a:solidFill>
                  <a:srgbClr val="000000"/>
                </a:solidFill>
                <a:latin typeface="Times New Roman Bold"/>
                <a:ea typeface="Times New Roman Bold"/>
                <a:cs typeface="Times New Roman Bold"/>
                <a:sym typeface="Times New Roman Bold"/>
              </a:rPr>
              <a:t>MATLAB/Simulink </a:t>
            </a:r>
            <a:r>
              <a:rPr lang="en-US" sz="3000" spc="-15">
                <a:solidFill>
                  <a:srgbClr val="000000"/>
                </a:solidFill>
                <a:latin typeface="Times New Roman"/>
                <a:ea typeface="Times New Roman"/>
                <a:cs typeface="Times New Roman"/>
                <a:sym typeface="Times New Roman"/>
              </a:rPr>
              <a:t>and analyze its performance.</a:t>
            </a:r>
          </a:p>
          <a:p>
            <a:pPr algn="l" marL="561975" indent="-280988" lvl="1">
              <a:lnSpc>
                <a:spcPts val="3450"/>
              </a:lnSpc>
              <a:buFont typeface="Arial"/>
              <a:buChar char="•"/>
            </a:pPr>
            <a:r>
              <a:rPr lang="en-US" sz="3000" spc="-15">
                <a:solidFill>
                  <a:srgbClr val="000000"/>
                </a:solidFill>
                <a:latin typeface="Times New Roman"/>
                <a:ea typeface="Times New Roman"/>
                <a:cs typeface="Times New Roman"/>
                <a:sym typeface="Times New Roman"/>
              </a:rPr>
              <a:t>To ensure compatibility of the inverter with </a:t>
            </a:r>
            <a:r>
              <a:rPr lang="en-US" b="true" sz="3000" spc="-15">
                <a:solidFill>
                  <a:srgbClr val="000000"/>
                </a:solidFill>
                <a:latin typeface="Times New Roman Bold"/>
                <a:ea typeface="Times New Roman Bold"/>
                <a:cs typeface="Times New Roman Bold"/>
                <a:sym typeface="Times New Roman Bold"/>
              </a:rPr>
              <a:t>grid-connected solar energy systems</a:t>
            </a:r>
            <a:r>
              <a:rPr lang="en-US" sz="3000" spc="-15">
                <a:solidFill>
                  <a:srgbClr val="000000"/>
                </a:solidFill>
                <a:latin typeface="Times New Roman"/>
                <a:ea typeface="Times New Roman"/>
                <a:cs typeface="Times New Roman"/>
                <a:sym typeface="Times New Roman"/>
              </a:rPr>
              <a:t>, including synchronization and stable power delivery.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9557" y="1597228"/>
            <a:ext cx="18018442" cy="6778237"/>
            <a:chOff x="0" y="0"/>
            <a:chExt cx="24024590" cy="9037650"/>
          </a:xfrm>
        </p:grpSpPr>
        <p:sp>
          <p:nvSpPr>
            <p:cNvPr name="Freeform 3" id="3"/>
            <p:cNvSpPr/>
            <p:nvPr/>
          </p:nvSpPr>
          <p:spPr>
            <a:xfrm flipH="false" flipV="false" rot="0">
              <a:off x="0" y="0"/>
              <a:ext cx="24024591" cy="9037627"/>
            </a:xfrm>
            <a:custGeom>
              <a:avLst/>
              <a:gdLst/>
              <a:ahLst/>
              <a:cxnLst/>
              <a:rect r="r" b="b" t="t" l="l"/>
              <a:pathLst>
                <a:path h="9037627" w="24024591">
                  <a:moveTo>
                    <a:pt x="0" y="0"/>
                  </a:moveTo>
                  <a:lnTo>
                    <a:pt x="24024591" y="0"/>
                  </a:lnTo>
                  <a:lnTo>
                    <a:pt x="24024591" y="9037627"/>
                  </a:lnTo>
                  <a:lnTo>
                    <a:pt x="0" y="9037627"/>
                  </a:lnTo>
                  <a:lnTo>
                    <a:pt x="0" y="0"/>
                  </a:lnTo>
                  <a:close/>
                </a:path>
              </a:pathLst>
            </a:custGeom>
            <a:blipFill>
              <a:blip r:embed="rId2"/>
              <a:stretch>
                <a:fillRect l="0" t="-178" r="0" b="-20019"/>
              </a:stretch>
            </a:blipFill>
          </p:spPr>
        </p:sp>
      </p:grpSp>
      <p:sp>
        <p:nvSpPr>
          <p:cNvPr name="TextBox 4" id="4"/>
          <p:cNvSpPr txBox="true"/>
          <p:nvPr/>
        </p:nvSpPr>
        <p:spPr>
          <a:xfrm rot="0">
            <a:off x="342138" y="222685"/>
            <a:ext cx="5356860" cy="686114"/>
          </a:xfrm>
          <a:prstGeom prst="rect">
            <a:avLst/>
          </a:prstGeom>
        </p:spPr>
        <p:txBody>
          <a:bodyPr anchor="t" rtlCol="false" tIns="0" lIns="0" bIns="0" rIns="0">
            <a:spAutoFit/>
          </a:bodyPr>
          <a:lstStyle/>
          <a:p>
            <a:pPr algn="l">
              <a:lnSpc>
                <a:spcPts val="5040"/>
              </a:lnSpc>
            </a:pPr>
            <a:r>
              <a:rPr lang="en-US" b="true" sz="4200" spc="270">
                <a:solidFill>
                  <a:srgbClr val="000000"/>
                </a:solidFill>
                <a:latin typeface="Times New Roman Bold"/>
                <a:ea typeface="Times New Roman Bold"/>
                <a:cs typeface="Times New Roman Bold"/>
                <a:sym typeface="Times New Roman Bold"/>
              </a:rPr>
              <a:t>BLOCK	DIAGRAM</a:t>
            </a:r>
          </a:p>
        </p:txBody>
      </p:sp>
      <p:sp>
        <p:nvSpPr>
          <p:cNvPr name="TextBox 5" id="5"/>
          <p:cNvSpPr txBox="true"/>
          <p:nvPr/>
        </p:nvSpPr>
        <p:spPr>
          <a:xfrm rot="0">
            <a:off x="0" y="8994590"/>
            <a:ext cx="17700171"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FIGURE</a:t>
            </a:r>
            <a:r>
              <a:rPr lang="en-US" sz="3399">
                <a:solidFill>
                  <a:srgbClr val="000000"/>
                </a:solidFill>
                <a:latin typeface="Canva Sans"/>
                <a:ea typeface="Canva Sans"/>
                <a:cs typeface="Canva Sans"/>
                <a:sym typeface="Canva Sans"/>
              </a:rPr>
              <a:t> 1. The block schematic of the proposed solar powered 21-level inverter</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40943" y="373380"/>
            <a:ext cx="3464242" cy="548640"/>
          </a:xfrm>
          <a:prstGeom prst="rect">
            <a:avLst/>
          </a:prstGeom>
        </p:spPr>
        <p:txBody>
          <a:bodyPr anchor="t" rtlCol="false" tIns="0" lIns="0" bIns="0" rIns="0">
            <a:spAutoFit/>
          </a:bodyPr>
          <a:lstStyle/>
          <a:p>
            <a:pPr algn="l">
              <a:lnSpc>
                <a:spcPts val="3960"/>
              </a:lnSpc>
            </a:pPr>
            <a:r>
              <a:rPr lang="en-US" b="true" sz="3300" spc="300">
                <a:solidFill>
                  <a:srgbClr val="000000"/>
                </a:solidFill>
                <a:latin typeface="Times New Roman Bold"/>
                <a:ea typeface="Times New Roman Bold"/>
                <a:cs typeface="Times New Roman Bold"/>
                <a:sym typeface="Times New Roman Bold"/>
              </a:rPr>
              <a:t>COMPONENTS</a:t>
            </a:r>
          </a:p>
        </p:txBody>
      </p:sp>
      <p:sp>
        <p:nvSpPr>
          <p:cNvPr name="TextBox 3" id="3"/>
          <p:cNvSpPr txBox="true"/>
          <p:nvPr/>
        </p:nvSpPr>
        <p:spPr>
          <a:xfrm rot="0">
            <a:off x="250698" y="1400366"/>
            <a:ext cx="17922240" cy="8551545"/>
          </a:xfrm>
          <a:prstGeom prst="rect">
            <a:avLst/>
          </a:prstGeom>
        </p:spPr>
        <p:txBody>
          <a:bodyPr anchor="t" rtlCol="false" tIns="0" lIns="0" bIns="0" rIns="0">
            <a:spAutoFit/>
          </a:bodyPr>
          <a:lstStyle/>
          <a:p>
            <a:pPr algn="l" marL="867727" indent="-433864" lvl="1">
              <a:lnSpc>
                <a:spcPts val="3600"/>
              </a:lnSpc>
              <a:buAutoNum type="arabicPeriod" startAt="1"/>
            </a:pPr>
            <a:r>
              <a:rPr lang="en-US" b="true" sz="3000">
                <a:solidFill>
                  <a:srgbClr val="000000"/>
                </a:solidFill>
                <a:latin typeface="Times New Roman Bold"/>
                <a:ea typeface="Times New Roman Bold"/>
                <a:cs typeface="Times New Roman Bold"/>
                <a:sym typeface="Times New Roman Bold"/>
              </a:rPr>
              <a:t>Solar PV Array System</a:t>
            </a:r>
          </a:p>
          <a:p>
            <a:pPr algn="just" marL="607409" indent="-303705" lvl="1">
              <a:lnSpc>
                <a:spcPts val="2414"/>
              </a:lnSpc>
            </a:pPr>
            <a:r>
              <a:rPr lang="en-US" sz="2100">
                <a:solidFill>
                  <a:srgbClr val="000000"/>
                </a:solidFill>
                <a:latin typeface="Times New Roman"/>
                <a:ea typeface="Times New Roman"/>
                <a:cs typeface="Times New Roman"/>
                <a:sym typeface="Times New Roman"/>
              </a:rPr>
              <a:t>The solar photovoltaic (PV) array is the primary source of energy in the system. It converts solar irradiance into electrical energy in the form of DC voltage. The output of the PV array depends on environmental conditions such as solar irradiance and temperature. Multiple PV panels are connected in series and parallel combinations to achieve the required voltage and current levels. The generated DC power is fed into the DC-DC converter for further processing.</a:t>
            </a:r>
          </a:p>
          <a:p>
            <a:pPr algn="l" marL="694182" indent="-347091" lvl="1">
              <a:lnSpc>
                <a:spcPts val="2879"/>
              </a:lnSpc>
            </a:pPr>
          </a:p>
          <a:p>
            <a:pPr algn="l" marL="963930" indent="-481965" lvl="1">
              <a:lnSpc>
                <a:spcPts val="3600"/>
              </a:lnSpc>
              <a:buAutoNum type="arabicPeriod" startAt="1"/>
            </a:pPr>
            <a:r>
              <a:rPr lang="en-US" b="true" sz="3000">
                <a:solidFill>
                  <a:srgbClr val="000000"/>
                </a:solidFill>
                <a:latin typeface="Times New Roman Bold"/>
                <a:ea typeface="Times New Roman Bold"/>
                <a:cs typeface="Times New Roman Bold"/>
                <a:sym typeface="Times New Roman Bold"/>
              </a:rPr>
              <a:t>Solar Irradiance and Temperature Sensors</a:t>
            </a:r>
          </a:p>
          <a:p>
            <a:pPr algn="l" marL="771144" indent="-385572" lvl="1">
              <a:lnSpc>
                <a:spcPts val="2775"/>
              </a:lnSpc>
            </a:pPr>
            <a:r>
              <a:rPr lang="en-US" sz="2400">
                <a:solidFill>
                  <a:srgbClr val="000000"/>
                </a:solidFill>
                <a:latin typeface="Times New Roman"/>
                <a:ea typeface="Times New Roman"/>
                <a:cs typeface="Times New Roman"/>
                <a:sym typeface="Times New Roman"/>
              </a:rPr>
              <a:t>These sensors monitor environmental conditions that affect the performance of the PV system. Solar irradiance determines the amount of sunlight available, while temperature affects the efficiency of PV cells. These parameters are used by the MPPT controller to optimize power extraction from the PV array.</a:t>
            </a:r>
          </a:p>
          <a:p>
            <a:pPr algn="l" marL="771144" indent="-385572" lvl="1">
              <a:lnSpc>
                <a:spcPts val="2879"/>
              </a:lnSpc>
            </a:pPr>
          </a:p>
          <a:p>
            <a:pPr algn="l" marL="963930" indent="-481965" lvl="1">
              <a:lnSpc>
                <a:spcPts val="3600"/>
              </a:lnSpc>
              <a:buAutoNum type="arabicPeriod" startAt="1"/>
            </a:pPr>
            <a:r>
              <a:rPr lang="en-US" b="true" sz="3000" spc="-15">
                <a:solidFill>
                  <a:srgbClr val="000000"/>
                </a:solidFill>
                <a:latin typeface="Times New Roman Bold"/>
                <a:ea typeface="Times New Roman Bold"/>
                <a:cs typeface="Times New Roman Bold"/>
                <a:sym typeface="Times New Roman Bold"/>
              </a:rPr>
              <a:t>EINC-MPPT Technique</a:t>
            </a:r>
          </a:p>
          <a:p>
            <a:pPr algn="just" marL="771144" indent="-385572" lvl="1">
              <a:lnSpc>
                <a:spcPts val="2756"/>
              </a:lnSpc>
            </a:pPr>
            <a:r>
              <a:rPr lang="en-US" sz="2400" spc="-12">
                <a:solidFill>
                  <a:srgbClr val="000000"/>
                </a:solidFill>
                <a:latin typeface="Times New Roman"/>
                <a:ea typeface="Times New Roman"/>
                <a:cs typeface="Times New Roman"/>
                <a:sym typeface="Times New Roman"/>
              </a:rPr>
              <a:t>The Enhanced Incremental Conductance (EINC) Maximum Power Point Tracking (MPPT) technique is used to extract maximum power from the PV array. It continuously monitors the PV voltage and current and adjusts the duty cycle of the converter to operate at the maximum power point. This technique improves efficiency, especially under varying environmental conditions.</a:t>
            </a:r>
          </a:p>
          <a:p>
            <a:pPr algn="l" marL="771144" indent="-385572" lvl="1">
              <a:lnSpc>
                <a:spcPts val="2879"/>
              </a:lnSpc>
            </a:pPr>
          </a:p>
          <a:p>
            <a:pPr algn="l" marL="982028" indent="-491014" lvl="1">
              <a:lnSpc>
                <a:spcPts val="3600"/>
              </a:lnSpc>
              <a:buAutoNum type="arabicPeriod" startAt="1"/>
            </a:pPr>
            <a:r>
              <a:rPr lang="en-US" b="true" sz="3000" spc="-15">
                <a:solidFill>
                  <a:srgbClr val="000000"/>
                </a:solidFill>
                <a:latin typeface="Times New Roman Bold"/>
                <a:ea typeface="Times New Roman Bold"/>
                <a:cs typeface="Times New Roman Bold"/>
                <a:sym typeface="Times New Roman Bold"/>
              </a:rPr>
              <a:t>PV Boost DC-DC SIMO Converter</a:t>
            </a:r>
          </a:p>
          <a:p>
            <a:pPr algn="l" marL="785622" indent="-392811" lvl="1">
              <a:lnSpc>
                <a:spcPts val="2773"/>
              </a:lnSpc>
            </a:pPr>
            <a:r>
              <a:rPr lang="en-US" sz="2400" spc="-12">
                <a:solidFill>
                  <a:srgbClr val="000000"/>
                </a:solidFill>
                <a:latin typeface="Times New Roman"/>
                <a:ea typeface="Times New Roman"/>
                <a:cs typeface="Times New Roman"/>
                <a:sym typeface="Times New Roman"/>
              </a:rPr>
              <a:t>The Single Input Multiple Output (SIMO) DC-DC boost converter increases the low DC voltage from the PV array to higher voltage levels required for the inverter. It also generates multiple DC-link voltages (V1, V2, V3, etc.), which are essential for the asymmetric multilevel inverter operation. This converter plays a crucial role in voltage amplification and distribution.</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57022" y="691134"/>
            <a:ext cx="3179445" cy="511493"/>
          </a:xfrm>
          <a:prstGeom prst="rect">
            <a:avLst/>
          </a:prstGeom>
        </p:spPr>
        <p:txBody>
          <a:bodyPr anchor="t" rtlCol="false" tIns="0" lIns="0" bIns="0" rIns="0">
            <a:spAutoFit/>
          </a:bodyPr>
          <a:lstStyle/>
          <a:p>
            <a:pPr algn="l">
              <a:lnSpc>
                <a:spcPts val="3600"/>
              </a:lnSpc>
            </a:pPr>
            <a:r>
              <a:rPr lang="en-US" b="true" sz="3000" spc="-15">
                <a:solidFill>
                  <a:srgbClr val="000000"/>
                </a:solidFill>
                <a:latin typeface="Times New Roman Bold"/>
                <a:ea typeface="Times New Roman Bold"/>
                <a:cs typeface="Times New Roman Bold"/>
                <a:sym typeface="Times New Roman Bold"/>
              </a:rPr>
              <a:t>5. PWM Generator</a:t>
            </a:r>
          </a:p>
        </p:txBody>
      </p:sp>
      <p:sp>
        <p:nvSpPr>
          <p:cNvPr name="TextBox 3" id="3"/>
          <p:cNvSpPr txBox="true"/>
          <p:nvPr/>
        </p:nvSpPr>
        <p:spPr>
          <a:xfrm rot="0">
            <a:off x="250698" y="1436942"/>
            <a:ext cx="17862232" cy="7857172"/>
          </a:xfrm>
          <a:prstGeom prst="rect">
            <a:avLst/>
          </a:prstGeom>
        </p:spPr>
        <p:txBody>
          <a:bodyPr anchor="t" rtlCol="false" tIns="0" lIns="0" bIns="0" rIns="0">
            <a:spAutoFit/>
          </a:bodyPr>
          <a:lstStyle/>
          <a:p>
            <a:pPr algn="l">
              <a:lnSpc>
                <a:spcPts val="2775"/>
              </a:lnSpc>
            </a:pPr>
            <a:r>
              <a:rPr lang="en-US" sz="2400">
                <a:solidFill>
                  <a:srgbClr val="000000"/>
                </a:solidFill>
                <a:latin typeface="Times New Roman"/>
                <a:ea typeface="Times New Roman"/>
                <a:cs typeface="Times New Roman"/>
                <a:sym typeface="Times New Roman"/>
              </a:rPr>
              <a:t>The Pulse Width Modulation (PWM) generator produces switching pulses based on the duty cycle obtained from the MPPT controller. These pulses control the switching operation of the DC-DC converter, ensuring proper voltage regulation and efficient energy conversion.</a:t>
            </a:r>
          </a:p>
          <a:p>
            <a:pPr algn="l">
              <a:lnSpc>
                <a:spcPts val="2879"/>
              </a:lnSpc>
            </a:pPr>
          </a:p>
          <a:p>
            <a:pPr algn="l" marL="963930" indent="-481965" lvl="1">
              <a:lnSpc>
                <a:spcPts val="3600"/>
              </a:lnSpc>
              <a:buAutoNum type="arabicPeriod" startAt="1"/>
            </a:pPr>
            <a:r>
              <a:rPr lang="en-US" b="true" sz="3000" spc="-15">
                <a:solidFill>
                  <a:srgbClr val="000000"/>
                </a:solidFill>
                <a:latin typeface="Times New Roman Bold"/>
                <a:ea typeface="Times New Roman Bold"/>
                <a:cs typeface="Times New Roman Bold"/>
                <a:sym typeface="Times New Roman Bold"/>
              </a:rPr>
              <a:t>DC-Link Voltage</a:t>
            </a:r>
          </a:p>
          <a:p>
            <a:pPr algn="l" marL="771144" indent="-385572" lvl="1">
              <a:lnSpc>
                <a:spcPts val="2775"/>
              </a:lnSpc>
            </a:pPr>
            <a:r>
              <a:rPr lang="en-US" sz="2400" spc="-12">
                <a:solidFill>
                  <a:srgbClr val="000000"/>
                </a:solidFill>
                <a:latin typeface="Times New Roman"/>
                <a:ea typeface="Times New Roman"/>
                <a:cs typeface="Times New Roman"/>
                <a:sym typeface="Times New Roman"/>
              </a:rPr>
              <a:t>The DC-link acts as an intermediate stage between the converter and the inverter. It stores and stabilizes the DC voltage before it is converted into AC. Multiple DC-link voltages are used in the asymmetric configuration to generate higher voltage levels in the inverter output.</a:t>
            </a:r>
          </a:p>
          <a:p>
            <a:pPr algn="l" marL="771144" indent="-385572" lvl="1">
              <a:lnSpc>
                <a:spcPts val="2879"/>
              </a:lnSpc>
            </a:pPr>
          </a:p>
          <a:p>
            <a:pPr algn="l" marL="867727" indent="-433864" lvl="1">
              <a:lnSpc>
                <a:spcPts val="3600"/>
              </a:lnSpc>
              <a:buAutoNum type="arabicPeriod" startAt="1"/>
            </a:pPr>
            <a:r>
              <a:rPr lang="en-US" b="true" sz="3000" spc="-15">
                <a:solidFill>
                  <a:srgbClr val="000000"/>
                </a:solidFill>
                <a:latin typeface="Times New Roman Bold"/>
                <a:ea typeface="Times New Roman Bold"/>
                <a:cs typeface="Times New Roman Bold"/>
                <a:sym typeface="Times New Roman Bold"/>
              </a:rPr>
              <a:t>Proposed 21-Level Inverter</a:t>
            </a:r>
          </a:p>
          <a:p>
            <a:pPr algn="just" marL="694182" indent="-347091" lvl="1">
              <a:lnSpc>
                <a:spcPts val="2753"/>
              </a:lnSpc>
            </a:pPr>
            <a:r>
              <a:rPr lang="en-US" sz="2400" spc="-12">
                <a:solidFill>
                  <a:srgbClr val="000000"/>
                </a:solidFill>
                <a:latin typeface="Times New Roman"/>
                <a:ea typeface="Times New Roman"/>
                <a:cs typeface="Times New Roman"/>
                <a:sym typeface="Times New Roman"/>
              </a:rPr>
              <a:t>The multilevel inverter is the core component of the system. It converts DC voltage into AC voltage with 21 levels, producing a waveform that closely resembles a sinusoidal signal. The asymmetric cascaded H-bridge topology allows the generation of multiple voltage levels using fewer switches. This reduces harmonic distortion, switching losses, and improves overall system efficiency.</a:t>
            </a:r>
          </a:p>
          <a:p>
            <a:pPr algn="l" marL="694182" indent="-347091" lvl="1">
              <a:lnSpc>
                <a:spcPts val="2879"/>
              </a:lnSpc>
            </a:pPr>
          </a:p>
          <a:p>
            <a:pPr algn="l" marL="867727" indent="-433864" lvl="1">
              <a:lnSpc>
                <a:spcPts val="3600"/>
              </a:lnSpc>
              <a:buAutoNum type="arabicPeriod" startAt="1"/>
            </a:pPr>
            <a:r>
              <a:rPr lang="en-US" b="true" sz="3000" spc="-15">
                <a:solidFill>
                  <a:srgbClr val="000000"/>
                </a:solidFill>
                <a:latin typeface="Times New Roman Bold"/>
                <a:ea typeface="Times New Roman Bold"/>
                <a:cs typeface="Times New Roman Bold"/>
                <a:sym typeface="Times New Roman Bold"/>
              </a:rPr>
              <a:t>Switching Sequence Generation (Logic Gates)</a:t>
            </a:r>
          </a:p>
          <a:p>
            <a:pPr algn="l" marL="694182" indent="-347091" lvl="1">
              <a:lnSpc>
                <a:spcPts val="2775"/>
              </a:lnSpc>
            </a:pPr>
            <a:r>
              <a:rPr lang="en-US" sz="2400" spc="-12">
                <a:solidFill>
                  <a:srgbClr val="000000"/>
                </a:solidFill>
                <a:latin typeface="Times New Roman"/>
                <a:ea typeface="Times New Roman"/>
                <a:cs typeface="Times New Roman"/>
                <a:sym typeface="Times New Roman"/>
              </a:rPr>
              <a:t>This block generates the required switching signals using logic gates. It ensures proper sequencing of switches in the inverter to produce the desired output voltage levels. The switching logic is designed to achieve smooth waveform generation and minimize harmonic distortion.</a:t>
            </a:r>
          </a:p>
          <a:p>
            <a:pPr algn="l" marL="694182" indent="-347091" lvl="1">
              <a:lnSpc>
                <a:spcPts val="2879"/>
              </a:lnSpc>
            </a:pPr>
          </a:p>
          <a:p>
            <a:pPr algn="l" marL="867727" indent="-433864" lvl="1">
              <a:lnSpc>
                <a:spcPts val="3600"/>
              </a:lnSpc>
              <a:buAutoNum type="arabicPeriod" startAt="1"/>
            </a:pPr>
            <a:r>
              <a:rPr lang="en-US" b="true" sz="3000" spc="-15">
                <a:solidFill>
                  <a:srgbClr val="000000"/>
                </a:solidFill>
                <a:latin typeface="Times New Roman Bold"/>
                <a:ea typeface="Times New Roman Bold"/>
                <a:cs typeface="Times New Roman Bold"/>
                <a:sym typeface="Times New Roman Bold"/>
              </a:rPr>
              <a:t>Level-Shifted Carrier SPWM Technique</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698" y="361950"/>
            <a:ext cx="17425035" cy="1082040"/>
          </a:xfrm>
          <a:prstGeom prst="rect">
            <a:avLst/>
          </a:prstGeom>
        </p:spPr>
        <p:txBody>
          <a:bodyPr anchor="t" rtlCol="false" tIns="0" lIns="0" bIns="0" rIns="0">
            <a:spAutoFit/>
          </a:bodyPr>
          <a:lstStyle/>
          <a:p>
            <a:pPr algn="l">
              <a:lnSpc>
                <a:spcPts val="2775"/>
              </a:lnSpc>
            </a:pPr>
            <a:r>
              <a:rPr lang="en-US" sz="2400">
                <a:solidFill>
                  <a:srgbClr val="000000"/>
                </a:solidFill>
                <a:latin typeface="Times New Roman"/>
                <a:ea typeface="Times New Roman"/>
                <a:cs typeface="Times New Roman"/>
                <a:sym typeface="Times New Roman"/>
              </a:rPr>
              <a:t>The Sinusoidal Pulse Width Modulation (SPWM) technique with level-shifted carriers is used to control the inverter switches. Multiple carrier signals are compared with a reference sinusoidal signal to generate switching pulses. This technique helps in achieving a high-quality output waveform with reduced Total Harmonic Distortion (THD).</a:t>
            </a:r>
          </a:p>
        </p:txBody>
      </p:sp>
      <p:sp>
        <p:nvSpPr>
          <p:cNvPr name="TextBox 3" id="3"/>
          <p:cNvSpPr txBox="true"/>
          <p:nvPr/>
        </p:nvSpPr>
        <p:spPr>
          <a:xfrm rot="0">
            <a:off x="557022" y="1898713"/>
            <a:ext cx="5409247" cy="511493"/>
          </a:xfrm>
          <a:prstGeom prst="rect">
            <a:avLst/>
          </a:prstGeom>
        </p:spPr>
        <p:txBody>
          <a:bodyPr anchor="t" rtlCol="false" tIns="0" lIns="0" bIns="0" rIns="0">
            <a:spAutoFit/>
          </a:bodyPr>
          <a:lstStyle/>
          <a:p>
            <a:pPr algn="l">
              <a:lnSpc>
                <a:spcPts val="3600"/>
              </a:lnSpc>
            </a:pPr>
            <a:r>
              <a:rPr lang="en-US" sz="3000" b="true">
                <a:solidFill>
                  <a:srgbClr val="000000"/>
                </a:solidFill>
                <a:latin typeface="Times New Roman Bold"/>
                <a:ea typeface="Times New Roman Bold"/>
                <a:cs typeface="Times New Roman Bold"/>
                <a:sym typeface="Times New Roman Bold"/>
              </a:rPr>
              <a:t>10. dSPACE RTI1104 Controller</a:t>
            </a:r>
          </a:p>
        </p:txBody>
      </p:sp>
      <p:sp>
        <p:nvSpPr>
          <p:cNvPr name="TextBox 4" id="4"/>
          <p:cNvSpPr txBox="true"/>
          <p:nvPr/>
        </p:nvSpPr>
        <p:spPr>
          <a:xfrm rot="0">
            <a:off x="250698" y="2644454"/>
            <a:ext cx="18052732" cy="5655631"/>
          </a:xfrm>
          <a:prstGeom prst="rect">
            <a:avLst/>
          </a:prstGeom>
        </p:spPr>
        <p:txBody>
          <a:bodyPr anchor="t" rtlCol="false" tIns="0" lIns="0" bIns="0" rIns="0">
            <a:spAutoFit/>
          </a:bodyPr>
          <a:lstStyle/>
          <a:p>
            <a:pPr algn="l">
              <a:lnSpc>
                <a:spcPts val="2756"/>
              </a:lnSpc>
            </a:pPr>
            <a:r>
              <a:rPr lang="en-US" sz="2400">
                <a:solidFill>
                  <a:srgbClr val="000000"/>
                </a:solidFill>
                <a:latin typeface="Times New Roman"/>
                <a:ea typeface="Times New Roman"/>
                <a:cs typeface="Times New Roman"/>
                <a:sym typeface="Times New Roman"/>
              </a:rPr>
              <a:t>The dSPACE RTI1104 is a real-time control platform used to implement control algorithms. It generates precise gate signals for the inverter switches based on the designed control strategy. It also allows real-time monitoring and testing of the system, making it suitable for research and development purposes.</a:t>
            </a:r>
          </a:p>
          <a:p>
            <a:pPr algn="l">
              <a:lnSpc>
                <a:spcPts val="2879"/>
              </a:lnSpc>
            </a:pPr>
          </a:p>
          <a:p>
            <a:pPr algn="l" marL="867727" indent="-433864" lvl="1">
              <a:lnSpc>
                <a:spcPts val="3600"/>
              </a:lnSpc>
              <a:buAutoNum type="arabicPeriod" startAt="1"/>
            </a:pPr>
            <a:r>
              <a:rPr lang="en-US" b="true" sz="3000" spc="-15">
                <a:solidFill>
                  <a:srgbClr val="000000"/>
                </a:solidFill>
                <a:latin typeface="Times New Roman Bold"/>
                <a:ea typeface="Times New Roman Bold"/>
                <a:cs typeface="Times New Roman Bold"/>
                <a:sym typeface="Times New Roman Bold"/>
              </a:rPr>
              <a:t>Gate Drivers</a:t>
            </a:r>
          </a:p>
          <a:p>
            <a:pPr algn="l" marL="694182" indent="-347091" lvl="1">
              <a:lnSpc>
                <a:spcPts val="2756"/>
              </a:lnSpc>
            </a:pPr>
            <a:r>
              <a:rPr lang="en-US" sz="2400" spc="-12">
                <a:solidFill>
                  <a:srgbClr val="000000"/>
                </a:solidFill>
                <a:latin typeface="Times New Roman"/>
                <a:ea typeface="Times New Roman"/>
                <a:cs typeface="Times New Roman"/>
                <a:sym typeface="Times New Roman"/>
              </a:rPr>
              <a:t>Gate drivers act as an interface between the control unit and power switches. They amplify the low-power control signals from the controller to drive high-power semiconductor devices like IGBTs or MOSFETs. Proper isolation and signal conditioning are provided to ensure safe and reliable switching.</a:t>
            </a:r>
          </a:p>
          <a:p>
            <a:pPr algn="l" marL="694182" indent="-347091" lvl="1">
              <a:lnSpc>
                <a:spcPts val="2879"/>
              </a:lnSpc>
            </a:pPr>
          </a:p>
          <a:p>
            <a:pPr algn="l" marL="561975" indent="-280988" lvl="1">
              <a:lnSpc>
                <a:spcPts val="3600"/>
              </a:lnSpc>
              <a:buAutoNum type="arabicPeriod" startAt="1"/>
            </a:pPr>
            <a:r>
              <a:rPr lang="en-US" b="true" sz="3000" spc="-15">
                <a:solidFill>
                  <a:srgbClr val="000000"/>
                </a:solidFill>
                <a:latin typeface="Times New Roman Bold"/>
                <a:ea typeface="Times New Roman Bold"/>
                <a:cs typeface="Times New Roman Bold"/>
                <a:sym typeface="Times New Roman Bold"/>
              </a:rPr>
              <a:t>Load (R, RL, R-RL Loads)</a:t>
            </a:r>
          </a:p>
          <a:p>
            <a:pPr algn="l" marL="449580" indent="-224790" lvl="1">
              <a:lnSpc>
                <a:spcPts val="2775"/>
              </a:lnSpc>
            </a:pPr>
            <a:r>
              <a:rPr lang="en-US" sz="2400" spc="-12">
                <a:solidFill>
                  <a:srgbClr val="000000"/>
                </a:solidFill>
                <a:latin typeface="Times New Roman"/>
                <a:ea typeface="Times New Roman"/>
                <a:cs typeface="Times New Roman"/>
                <a:sym typeface="Times New Roman"/>
              </a:rPr>
              <a:t>The output of the inverter is connected to different types of loads such as resistive (R), inductive (RL), and combined loads. These loads are used to analyze the performance of the inverter under various operating conditions. In grid-connected applications, the load represents the utility grid or consumer demand.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73321" y="1071876"/>
            <a:ext cx="12082197" cy="8186424"/>
          </a:xfrm>
          <a:custGeom>
            <a:avLst/>
            <a:gdLst/>
            <a:ahLst/>
            <a:cxnLst/>
            <a:rect r="r" b="b" t="t" l="l"/>
            <a:pathLst>
              <a:path h="8186424" w="12082197">
                <a:moveTo>
                  <a:pt x="0" y="0"/>
                </a:moveTo>
                <a:lnTo>
                  <a:pt x="12082196" y="0"/>
                </a:lnTo>
                <a:lnTo>
                  <a:pt x="12082196" y="8186424"/>
                </a:lnTo>
                <a:lnTo>
                  <a:pt x="0" y="8186424"/>
                </a:lnTo>
                <a:lnTo>
                  <a:pt x="0" y="0"/>
                </a:lnTo>
                <a:close/>
              </a:path>
            </a:pathLst>
          </a:custGeom>
          <a:blipFill>
            <a:blip r:embed="rId2"/>
            <a:stretch>
              <a:fillRect l="-17257" t="0" r="-17257" b="0"/>
            </a:stretch>
          </a:blipFill>
        </p:spPr>
      </p:sp>
      <p:sp>
        <p:nvSpPr>
          <p:cNvPr name="Freeform 3" id="3"/>
          <p:cNvSpPr/>
          <p:nvPr/>
        </p:nvSpPr>
        <p:spPr>
          <a:xfrm flipH="false" flipV="false" rot="0">
            <a:off x="7222521" y="1071876"/>
            <a:ext cx="9898984" cy="7224545"/>
          </a:xfrm>
          <a:custGeom>
            <a:avLst/>
            <a:gdLst/>
            <a:ahLst/>
            <a:cxnLst/>
            <a:rect r="r" b="b" t="t" l="l"/>
            <a:pathLst>
              <a:path h="7224545" w="9898984">
                <a:moveTo>
                  <a:pt x="0" y="0"/>
                </a:moveTo>
                <a:lnTo>
                  <a:pt x="9898984" y="0"/>
                </a:lnTo>
                <a:lnTo>
                  <a:pt x="9898984" y="7224546"/>
                </a:lnTo>
                <a:lnTo>
                  <a:pt x="0" y="7224546"/>
                </a:lnTo>
                <a:lnTo>
                  <a:pt x="0" y="0"/>
                </a:lnTo>
                <a:close/>
              </a:path>
            </a:pathLst>
          </a:custGeom>
          <a:blipFill>
            <a:blip r:embed="rId3"/>
            <a:stretch>
              <a:fillRect l="-9474" t="0" r="0" b="0"/>
            </a:stretch>
          </a:blipFill>
        </p:spPr>
      </p:sp>
      <p:sp>
        <p:nvSpPr>
          <p:cNvPr name="TextBox 4" id="4"/>
          <p:cNvSpPr txBox="true"/>
          <p:nvPr/>
        </p:nvSpPr>
        <p:spPr>
          <a:xfrm rot="0">
            <a:off x="110557" y="9239250"/>
            <a:ext cx="14957716"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Figure</a:t>
            </a:r>
            <a:r>
              <a:rPr lang="en-US" sz="3399">
                <a:solidFill>
                  <a:srgbClr val="000000"/>
                </a:solidFill>
                <a:latin typeface="Canva Sans"/>
                <a:ea typeface="Canva Sans"/>
                <a:cs typeface="Canva Sans"/>
                <a:sym typeface="Canva Sans"/>
              </a:rPr>
              <a:t> 2. The 21-level single-phase asymmetrical cascade inverter </a:t>
            </a:r>
          </a:p>
        </p:txBody>
      </p:sp>
      <p:sp>
        <p:nvSpPr>
          <p:cNvPr name="TextBox 5" id="5"/>
          <p:cNvSpPr txBox="true"/>
          <p:nvPr/>
        </p:nvSpPr>
        <p:spPr>
          <a:xfrm rot="0">
            <a:off x="734800" y="398794"/>
            <a:ext cx="10675793" cy="629906"/>
          </a:xfrm>
          <a:prstGeom prst="rect">
            <a:avLst/>
          </a:prstGeom>
        </p:spPr>
        <p:txBody>
          <a:bodyPr anchor="t" rtlCol="false" tIns="0" lIns="0" bIns="0" rIns="0">
            <a:spAutoFit/>
          </a:bodyPr>
          <a:lstStyle/>
          <a:p>
            <a:pPr algn="ctr">
              <a:lnSpc>
                <a:spcPts val="5180"/>
              </a:lnSpc>
            </a:pPr>
            <a:r>
              <a:rPr lang="en-US" sz="3700" b="true">
                <a:solidFill>
                  <a:srgbClr val="000000"/>
                </a:solidFill>
                <a:latin typeface="Canva Sans Bold"/>
                <a:ea typeface="Canva Sans Bold"/>
                <a:cs typeface="Canva Sans Bold"/>
                <a:sym typeface="Canva Sans Bold"/>
              </a:rPr>
              <a:t>4) TWENTY-ONE</a:t>
            </a:r>
            <a:r>
              <a:rPr lang="en-US" b="true" sz="3700">
                <a:solidFill>
                  <a:srgbClr val="000000"/>
                </a:solidFill>
                <a:latin typeface="Canva Sans Bold"/>
                <a:ea typeface="Canva Sans Bold"/>
                <a:cs typeface="Canva Sans Bold"/>
                <a:sym typeface="Canva Sans Bold"/>
              </a:rPr>
              <a:t> LEVEL INVERTER PROPOSED</a:t>
            </a:r>
          </a:p>
        </p:txBody>
      </p:sp>
      <p:sp>
        <p:nvSpPr>
          <p:cNvPr name="TextBox 6" id="6"/>
          <p:cNvSpPr txBox="true"/>
          <p:nvPr/>
        </p:nvSpPr>
        <p:spPr>
          <a:xfrm rot="0">
            <a:off x="7589416" y="8258322"/>
            <a:ext cx="9233367" cy="815339"/>
          </a:xfrm>
          <a:prstGeom prst="rect">
            <a:avLst/>
          </a:prstGeom>
        </p:spPr>
        <p:txBody>
          <a:bodyPr anchor="t" rtlCol="false" tIns="0" lIns="0" bIns="0" rIns="0">
            <a:spAutoFit/>
          </a:bodyPr>
          <a:lstStyle/>
          <a:p>
            <a:pPr algn="ctr">
              <a:lnSpc>
                <a:spcPts val="3360"/>
              </a:lnSpc>
            </a:pPr>
            <a:r>
              <a:rPr lang="en-US" sz="2400">
                <a:solidFill>
                  <a:srgbClr val="000000"/>
                </a:solidFill>
                <a:latin typeface="Canva Sans"/>
                <a:ea typeface="Canva Sans"/>
                <a:cs typeface="Canva Sans"/>
                <a:sym typeface="Canva Sans"/>
              </a:rPr>
              <a:t>COMP</a:t>
            </a:r>
            <a:r>
              <a:rPr lang="en-US" sz="2400">
                <a:solidFill>
                  <a:srgbClr val="000000"/>
                </a:solidFill>
                <a:latin typeface="Canva Sans"/>
                <a:ea typeface="Canva Sans"/>
                <a:cs typeface="Canva Sans"/>
                <a:sym typeface="Canva Sans"/>
              </a:rPr>
              <a:t>ARISON OF COMPONENTS BETWEEN PROPOSED AND EXISTING CONVENTIONAL MULTILEVEL INVERTERS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005" y="676118"/>
            <a:ext cx="5841682" cy="686114"/>
          </a:xfrm>
          <a:prstGeom prst="rect">
            <a:avLst/>
          </a:prstGeom>
        </p:spPr>
        <p:txBody>
          <a:bodyPr anchor="t" rtlCol="false" tIns="0" lIns="0" bIns="0" rIns="0">
            <a:spAutoFit/>
          </a:bodyPr>
          <a:lstStyle/>
          <a:p>
            <a:pPr algn="l">
              <a:lnSpc>
                <a:spcPts val="5040"/>
              </a:lnSpc>
            </a:pPr>
            <a:r>
              <a:rPr lang="en-US" b="true" sz="4200" spc="277">
                <a:solidFill>
                  <a:srgbClr val="000000"/>
                </a:solidFill>
                <a:latin typeface="Times New Roman Bold"/>
                <a:ea typeface="Times New Roman Bold"/>
                <a:cs typeface="Times New Roman Bold"/>
                <a:sym typeface="Times New Roman Bold"/>
              </a:rPr>
              <a:t>CIRCUIT	DIAGRAM</a:t>
            </a:r>
          </a:p>
        </p:txBody>
      </p:sp>
      <p:grpSp>
        <p:nvGrpSpPr>
          <p:cNvPr name="Group 3" id="3"/>
          <p:cNvGrpSpPr/>
          <p:nvPr/>
        </p:nvGrpSpPr>
        <p:grpSpPr>
          <a:xfrm rot="0">
            <a:off x="269557" y="1631286"/>
            <a:ext cx="16209056" cy="7384926"/>
            <a:chOff x="0" y="0"/>
            <a:chExt cx="21612075" cy="9846568"/>
          </a:xfrm>
        </p:grpSpPr>
        <p:sp>
          <p:nvSpPr>
            <p:cNvPr name="Freeform 4" id="4"/>
            <p:cNvSpPr/>
            <p:nvPr/>
          </p:nvSpPr>
          <p:spPr>
            <a:xfrm flipH="false" flipV="false" rot="0">
              <a:off x="0" y="0"/>
              <a:ext cx="21612075" cy="9846512"/>
            </a:xfrm>
            <a:custGeom>
              <a:avLst/>
              <a:gdLst/>
              <a:ahLst/>
              <a:cxnLst/>
              <a:rect r="r" b="b" t="t" l="l"/>
              <a:pathLst>
                <a:path h="9846512" w="21612075">
                  <a:moveTo>
                    <a:pt x="0" y="0"/>
                  </a:moveTo>
                  <a:lnTo>
                    <a:pt x="21612075" y="0"/>
                  </a:lnTo>
                  <a:lnTo>
                    <a:pt x="21612075" y="9846512"/>
                  </a:lnTo>
                  <a:lnTo>
                    <a:pt x="0" y="9846512"/>
                  </a:lnTo>
                  <a:lnTo>
                    <a:pt x="0" y="0"/>
                  </a:lnTo>
                  <a:close/>
                </a:path>
              </a:pathLst>
            </a:custGeom>
            <a:blipFill>
              <a:blip r:embed="rId2"/>
              <a:stretch>
                <a:fillRect l="0" t="-11460" r="0" b="-11460"/>
              </a:stretch>
            </a:blipFill>
          </p:spPr>
        </p:sp>
      </p:grpSp>
      <p:sp>
        <p:nvSpPr>
          <p:cNvPr name="TextBox 5" id="5"/>
          <p:cNvSpPr txBox="true"/>
          <p:nvPr/>
        </p:nvSpPr>
        <p:spPr>
          <a:xfrm rot="0">
            <a:off x="1556418" y="9216238"/>
            <a:ext cx="13635335"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Figure</a:t>
            </a:r>
            <a:r>
              <a:rPr lang="en-US" sz="3399">
                <a:solidFill>
                  <a:srgbClr val="000000"/>
                </a:solidFill>
                <a:latin typeface="Canva Sans"/>
                <a:ea typeface="Canva Sans"/>
                <a:cs typeface="Canva Sans"/>
                <a:sym typeface="Canva Sans"/>
              </a:rPr>
              <a:t> 3. Simulation circuit of the recommended 21 level inverters</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54138" y="285750"/>
            <a:ext cx="6661100" cy="742950"/>
          </a:xfrm>
          <a:prstGeom prst="rect">
            <a:avLst/>
          </a:prstGeom>
        </p:spPr>
        <p:txBody>
          <a:bodyPr anchor="t" rtlCol="false" tIns="0" lIns="0" bIns="0" rIns="0">
            <a:spAutoFit/>
          </a:bodyPr>
          <a:lstStyle/>
          <a:p>
            <a:pPr algn="l">
              <a:lnSpc>
                <a:spcPts val="5639"/>
              </a:lnSpc>
            </a:pPr>
            <a:r>
              <a:rPr lang="en-US" b="true" sz="4699" spc="-23">
                <a:solidFill>
                  <a:srgbClr val="000000"/>
                </a:solidFill>
                <a:latin typeface="Times New Roman Bold"/>
                <a:ea typeface="Times New Roman Bold"/>
                <a:cs typeface="Times New Roman Bold"/>
                <a:sym typeface="Times New Roman Bold"/>
              </a:rPr>
              <a:t>WORKING PRINCIPLE:</a:t>
            </a:r>
          </a:p>
        </p:txBody>
      </p:sp>
      <p:sp>
        <p:nvSpPr>
          <p:cNvPr name="TextBox 3" id="3"/>
          <p:cNvSpPr txBox="true"/>
          <p:nvPr/>
        </p:nvSpPr>
        <p:spPr>
          <a:xfrm rot="0">
            <a:off x="557022" y="1098994"/>
            <a:ext cx="11594221" cy="9695716"/>
          </a:xfrm>
          <a:prstGeom prst="rect">
            <a:avLst/>
          </a:prstGeom>
        </p:spPr>
        <p:txBody>
          <a:bodyPr anchor="t" rtlCol="false" tIns="0" lIns="0" bIns="0" rIns="0">
            <a:spAutoFit/>
          </a:bodyPr>
          <a:lstStyle/>
          <a:p>
            <a:pPr algn="l">
              <a:lnSpc>
                <a:spcPts val="4799"/>
              </a:lnSpc>
            </a:pPr>
            <a:r>
              <a:rPr lang="en-US" sz="3999" b="true">
                <a:solidFill>
                  <a:srgbClr val="000000"/>
                </a:solidFill>
                <a:latin typeface="Times New Roman Bold"/>
                <a:ea typeface="Times New Roman Bold"/>
                <a:cs typeface="Times New Roman Bold"/>
                <a:sym typeface="Times New Roman Bold"/>
              </a:rPr>
              <a:t>Step 1: Solar Energy Conversion</a:t>
            </a:r>
          </a:p>
          <a:p>
            <a:pPr algn="l" marL="580346" indent="-290173" lvl="1">
              <a:lnSpc>
                <a:spcPts val="3309"/>
              </a:lnSpc>
              <a:buFont typeface="Arial"/>
              <a:buChar char="•"/>
            </a:pPr>
            <a:r>
              <a:rPr lang="en-US" sz="2799">
                <a:solidFill>
                  <a:srgbClr val="000000"/>
                </a:solidFill>
                <a:latin typeface="Times New Roman"/>
                <a:ea typeface="Times New Roman"/>
                <a:cs typeface="Times New Roman"/>
                <a:sym typeface="Times New Roman"/>
              </a:rPr>
              <a:t>The </a:t>
            </a:r>
            <a:r>
              <a:rPr lang="en-US" b="true" sz="2799">
                <a:solidFill>
                  <a:srgbClr val="000000"/>
                </a:solidFill>
                <a:latin typeface="Times New Roman Bold"/>
                <a:ea typeface="Times New Roman Bold"/>
                <a:cs typeface="Times New Roman Bold"/>
                <a:sym typeface="Times New Roman Bold"/>
              </a:rPr>
              <a:t>solar PV array </a:t>
            </a:r>
            <a:r>
              <a:rPr lang="en-US" sz="2799">
                <a:solidFill>
                  <a:srgbClr val="000000"/>
                </a:solidFill>
                <a:latin typeface="Times New Roman"/>
                <a:ea typeface="Times New Roman"/>
                <a:cs typeface="Times New Roman"/>
                <a:sym typeface="Times New Roman"/>
              </a:rPr>
              <a:t>converts sunlight into DC electrical energy.</a:t>
            </a:r>
          </a:p>
          <a:p>
            <a:pPr algn="l" marL="580346" indent="-290173" lvl="1">
              <a:lnSpc>
                <a:spcPts val="3309"/>
              </a:lnSpc>
              <a:buFont typeface="Arial"/>
              <a:buChar char="•"/>
            </a:pPr>
            <a:r>
              <a:rPr lang="en-US" sz="2799">
                <a:solidFill>
                  <a:srgbClr val="000000"/>
                </a:solidFill>
                <a:latin typeface="Times New Roman"/>
                <a:ea typeface="Times New Roman"/>
                <a:cs typeface="Times New Roman"/>
                <a:sym typeface="Times New Roman"/>
              </a:rPr>
              <a:t>Output varies based on </a:t>
            </a:r>
            <a:r>
              <a:rPr lang="en-US" b="true" sz="2799">
                <a:solidFill>
                  <a:srgbClr val="000000"/>
                </a:solidFill>
                <a:latin typeface="Times New Roman Bold"/>
                <a:ea typeface="Times New Roman Bold"/>
                <a:cs typeface="Times New Roman Bold"/>
                <a:sym typeface="Times New Roman Bold"/>
              </a:rPr>
              <a:t>irradiance and temperature</a:t>
            </a:r>
            <a:r>
              <a:rPr lang="en-US" sz="2799">
                <a:solidFill>
                  <a:srgbClr val="000000"/>
                </a:solidFill>
                <a:latin typeface="Times New Roman"/>
                <a:ea typeface="Times New Roman"/>
                <a:cs typeface="Times New Roman"/>
                <a:sym typeface="Times New Roman"/>
              </a:rPr>
              <a:t>.</a:t>
            </a:r>
          </a:p>
          <a:p>
            <a:pPr algn="l" marL="580346" indent="-290173" lvl="1">
              <a:lnSpc>
                <a:spcPts val="3359"/>
              </a:lnSpc>
            </a:pPr>
          </a:p>
          <a:p>
            <a:pPr algn="l" marL="829066" indent="-414533" lvl="1">
              <a:lnSpc>
                <a:spcPts val="4799"/>
              </a:lnSpc>
            </a:pPr>
            <a:r>
              <a:rPr lang="en-US" b="true" sz="3999">
                <a:solidFill>
                  <a:srgbClr val="000000"/>
                </a:solidFill>
                <a:latin typeface="Times New Roman Bold"/>
                <a:ea typeface="Times New Roman Bold"/>
                <a:cs typeface="Times New Roman Bold"/>
                <a:sym typeface="Times New Roman Bold"/>
              </a:rPr>
              <a:t>Step 2: Maximum Power Extraction (MPPT)</a:t>
            </a:r>
          </a:p>
          <a:p>
            <a:pPr algn="l" marL="580346" indent="-290173" lvl="1">
              <a:lnSpc>
                <a:spcPts val="3309"/>
              </a:lnSpc>
              <a:buFont typeface="Arial"/>
              <a:buChar char="•"/>
            </a:pPr>
            <a:r>
              <a:rPr lang="en-US" sz="2799">
                <a:solidFill>
                  <a:srgbClr val="000000"/>
                </a:solidFill>
                <a:latin typeface="Times New Roman"/>
                <a:ea typeface="Times New Roman"/>
                <a:cs typeface="Times New Roman"/>
                <a:sym typeface="Times New Roman"/>
              </a:rPr>
              <a:t>The </a:t>
            </a:r>
            <a:r>
              <a:rPr lang="en-US" b="true" sz="2799">
                <a:solidFill>
                  <a:srgbClr val="000000"/>
                </a:solidFill>
                <a:latin typeface="Times New Roman Bold"/>
                <a:ea typeface="Times New Roman Bold"/>
                <a:cs typeface="Times New Roman Bold"/>
                <a:sym typeface="Times New Roman Bold"/>
              </a:rPr>
              <a:t>EINC-MPPT algorithm </a:t>
            </a:r>
            <a:r>
              <a:rPr lang="en-US" sz="2799">
                <a:solidFill>
                  <a:srgbClr val="000000"/>
                </a:solidFill>
                <a:latin typeface="Times New Roman"/>
                <a:ea typeface="Times New Roman"/>
                <a:cs typeface="Times New Roman"/>
                <a:sym typeface="Times New Roman"/>
              </a:rPr>
              <a:t>continuously tracks the maximum power point.</a:t>
            </a:r>
          </a:p>
          <a:p>
            <a:pPr algn="l" marL="580346" indent="-290173" lvl="1">
              <a:lnSpc>
                <a:spcPts val="3239"/>
              </a:lnSpc>
              <a:buFont typeface="Arial"/>
              <a:buChar char="•"/>
            </a:pPr>
            <a:r>
              <a:rPr lang="en-US" sz="2799" spc="-19">
                <a:solidFill>
                  <a:srgbClr val="000000"/>
                </a:solidFill>
                <a:latin typeface="Times New Roman"/>
                <a:ea typeface="Times New Roman"/>
                <a:cs typeface="Times New Roman"/>
                <a:sym typeface="Times New Roman"/>
              </a:rPr>
              <a:t>It measures PV voltage and current.</a:t>
            </a:r>
          </a:p>
          <a:p>
            <a:pPr algn="l" marL="580346" indent="-290173" lvl="1">
              <a:lnSpc>
                <a:spcPts val="3289"/>
              </a:lnSpc>
              <a:buFont typeface="Arial"/>
              <a:buChar char="•"/>
            </a:pPr>
            <a:r>
              <a:rPr lang="en-US" sz="2799" spc="-19">
                <a:solidFill>
                  <a:srgbClr val="000000"/>
                </a:solidFill>
                <a:latin typeface="Times New Roman"/>
                <a:ea typeface="Times New Roman"/>
                <a:cs typeface="Times New Roman"/>
                <a:sym typeface="Times New Roman"/>
              </a:rPr>
              <a:t>Adjusts duty cycle to extract </a:t>
            </a:r>
            <a:r>
              <a:rPr lang="en-US" b="true" sz="2799" spc="-19">
                <a:solidFill>
                  <a:srgbClr val="000000"/>
                </a:solidFill>
                <a:latin typeface="Times New Roman Bold"/>
                <a:ea typeface="Times New Roman Bold"/>
                <a:cs typeface="Times New Roman Bold"/>
                <a:sym typeface="Times New Roman Bold"/>
              </a:rPr>
              <a:t>maximum possible power</a:t>
            </a:r>
            <a:r>
              <a:rPr lang="en-US" sz="2799" spc="-19">
                <a:solidFill>
                  <a:srgbClr val="000000"/>
                </a:solidFill>
                <a:latin typeface="Times New Roman"/>
                <a:ea typeface="Times New Roman"/>
                <a:cs typeface="Times New Roman"/>
                <a:sym typeface="Times New Roman"/>
              </a:rPr>
              <a:t>.</a:t>
            </a:r>
          </a:p>
          <a:p>
            <a:pPr algn="l" marL="580346" indent="-290173" lvl="1">
              <a:lnSpc>
                <a:spcPts val="3359"/>
              </a:lnSpc>
            </a:pPr>
          </a:p>
          <a:p>
            <a:pPr algn="l" marL="829066" indent="-414533" lvl="1">
              <a:lnSpc>
                <a:spcPts val="4799"/>
              </a:lnSpc>
            </a:pPr>
            <a:r>
              <a:rPr lang="en-US" b="true" sz="3999" spc="-19">
                <a:solidFill>
                  <a:srgbClr val="000000"/>
                </a:solidFill>
                <a:latin typeface="Times New Roman Bold"/>
                <a:ea typeface="Times New Roman Bold"/>
                <a:cs typeface="Times New Roman Bold"/>
                <a:sym typeface="Times New Roman Bold"/>
              </a:rPr>
              <a:t>Step 3: DC-DC Boost Conversion</a:t>
            </a:r>
          </a:p>
          <a:p>
            <a:pPr algn="l" marL="580346" indent="-290173" lvl="1">
              <a:lnSpc>
                <a:spcPts val="3319"/>
              </a:lnSpc>
              <a:buFont typeface="Arial"/>
              <a:buChar char="•"/>
            </a:pPr>
            <a:r>
              <a:rPr lang="en-US" sz="2799" spc="-13">
                <a:solidFill>
                  <a:srgbClr val="000000"/>
                </a:solidFill>
                <a:latin typeface="Times New Roman"/>
                <a:ea typeface="Times New Roman"/>
                <a:cs typeface="Times New Roman"/>
                <a:sym typeface="Times New Roman"/>
              </a:rPr>
              <a:t>The </a:t>
            </a:r>
            <a:r>
              <a:rPr lang="en-US" b="true" sz="2799" spc="-13">
                <a:solidFill>
                  <a:srgbClr val="000000"/>
                </a:solidFill>
                <a:latin typeface="Times New Roman Bold"/>
                <a:ea typeface="Times New Roman Bold"/>
                <a:cs typeface="Times New Roman Bold"/>
                <a:sym typeface="Times New Roman Bold"/>
              </a:rPr>
              <a:t>SIMO boost converter </a:t>
            </a:r>
            <a:r>
              <a:rPr lang="en-US" sz="2799" spc="-13">
                <a:solidFill>
                  <a:srgbClr val="000000"/>
                </a:solidFill>
                <a:latin typeface="Times New Roman"/>
                <a:ea typeface="Times New Roman"/>
                <a:cs typeface="Times New Roman"/>
                <a:sym typeface="Times New Roman"/>
              </a:rPr>
              <a:t>increases the PV voltage.</a:t>
            </a:r>
          </a:p>
          <a:p>
            <a:pPr algn="l" marL="580346" indent="-290173" lvl="1">
              <a:lnSpc>
                <a:spcPts val="3239"/>
              </a:lnSpc>
              <a:buFont typeface="Arial"/>
              <a:buChar char="•"/>
            </a:pPr>
            <a:r>
              <a:rPr lang="en-US" sz="2799" spc="-13">
                <a:solidFill>
                  <a:srgbClr val="000000"/>
                </a:solidFill>
                <a:latin typeface="Times New Roman"/>
                <a:ea typeface="Times New Roman"/>
                <a:cs typeface="Times New Roman"/>
                <a:sym typeface="Times New Roman"/>
              </a:rPr>
              <a:t>It generates </a:t>
            </a:r>
            <a:r>
              <a:rPr lang="en-US" b="true" sz="2799" spc="-13">
                <a:solidFill>
                  <a:srgbClr val="000000"/>
                </a:solidFill>
                <a:latin typeface="Times New Roman Bold"/>
                <a:ea typeface="Times New Roman Bold"/>
                <a:cs typeface="Times New Roman Bold"/>
                <a:sym typeface="Times New Roman Bold"/>
              </a:rPr>
              <a:t>multiple DC voltage levels (V1, V2, V3…)</a:t>
            </a:r>
            <a:r>
              <a:rPr lang="en-US" sz="2799" spc="-13">
                <a:solidFill>
                  <a:srgbClr val="000000"/>
                </a:solidFill>
                <a:latin typeface="Times New Roman"/>
                <a:ea typeface="Times New Roman"/>
                <a:cs typeface="Times New Roman"/>
                <a:sym typeface="Times New Roman"/>
              </a:rPr>
              <a:t>.</a:t>
            </a:r>
          </a:p>
          <a:p>
            <a:pPr algn="l" marL="580346" indent="-290173" lvl="1">
              <a:lnSpc>
                <a:spcPts val="3289"/>
              </a:lnSpc>
              <a:buFont typeface="Arial"/>
              <a:buChar char="•"/>
            </a:pPr>
            <a:r>
              <a:rPr lang="en-US" sz="2799" spc="-13">
                <a:solidFill>
                  <a:srgbClr val="000000"/>
                </a:solidFill>
                <a:latin typeface="Times New Roman"/>
                <a:ea typeface="Times New Roman"/>
                <a:cs typeface="Times New Roman"/>
                <a:sym typeface="Times New Roman"/>
              </a:rPr>
              <a:t>These voltages act as inputs for the multilevel inverter.</a:t>
            </a:r>
          </a:p>
          <a:p>
            <a:pPr algn="l" marL="580346" indent="-290173" lvl="1">
              <a:lnSpc>
                <a:spcPts val="3359"/>
              </a:lnSpc>
            </a:pPr>
          </a:p>
          <a:p>
            <a:pPr algn="l" marL="829066" indent="-414533" lvl="1">
              <a:lnSpc>
                <a:spcPts val="4799"/>
              </a:lnSpc>
            </a:pPr>
            <a:r>
              <a:rPr lang="en-US" b="true" sz="3999" spc="-19">
                <a:solidFill>
                  <a:srgbClr val="000000"/>
                </a:solidFill>
                <a:latin typeface="Times New Roman Bold"/>
                <a:ea typeface="Times New Roman Bold"/>
                <a:cs typeface="Times New Roman Bold"/>
                <a:sym typeface="Times New Roman Bold"/>
              </a:rPr>
              <a:t>Step 4: PWM Pulse Generation</a:t>
            </a:r>
          </a:p>
          <a:p>
            <a:pPr algn="l" marL="580346" indent="-290173" lvl="1">
              <a:lnSpc>
                <a:spcPts val="3309"/>
              </a:lnSpc>
              <a:buFont typeface="Arial"/>
              <a:buChar char="•"/>
            </a:pPr>
            <a:r>
              <a:rPr lang="en-US" sz="2799" spc="-13">
                <a:solidFill>
                  <a:srgbClr val="000000"/>
                </a:solidFill>
                <a:latin typeface="Times New Roman"/>
                <a:ea typeface="Times New Roman"/>
                <a:cs typeface="Times New Roman"/>
                <a:sym typeface="Times New Roman"/>
              </a:rPr>
              <a:t>The </a:t>
            </a:r>
            <a:r>
              <a:rPr lang="en-US" b="true" sz="2799" spc="-13">
                <a:solidFill>
                  <a:srgbClr val="000000"/>
                </a:solidFill>
                <a:latin typeface="Times New Roman Bold"/>
                <a:ea typeface="Times New Roman Bold"/>
                <a:cs typeface="Times New Roman Bold"/>
                <a:sym typeface="Times New Roman Bold"/>
              </a:rPr>
              <a:t>PWM generator </a:t>
            </a:r>
            <a:r>
              <a:rPr lang="en-US" sz="2799" spc="-13">
                <a:solidFill>
                  <a:srgbClr val="000000"/>
                </a:solidFill>
                <a:latin typeface="Times New Roman"/>
                <a:ea typeface="Times New Roman"/>
                <a:cs typeface="Times New Roman"/>
                <a:sym typeface="Times New Roman"/>
              </a:rPr>
              <a:t>creates switching pulses.</a:t>
            </a:r>
          </a:p>
          <a:p>
            <a:pPr algn="l" marL="580346" indent="-290173" lvl="1">
              <a:lnSpc>
                <a:spcPts val="3239"/>
              </a:lnSpc>
              <a:buFont typeface="Arial"/>
              <a:buChar char="•"/>
            </a:pPr>
            <a:r>
              <a:rPr lang="en-US" sz="2799" spc="-13">
                <a:solidFill>
                  <a:srgbClr val="000000"/>
                </a:solidFill>
                <a:latin typeface="Times New Roman"/>
                <a:ea typeface="Times New Roman"/>
                <a:cs typeface="Times New Roman"/>
                <a:sym typeface="Times New Roman"/>
              </a:rPr>
              <a:t>Pulses are based on duty cycle from MPPT.</a:t>
            </a:r>
          </a:p>
          <a:p>
            <a:pPr algn="l" marL="580346" indent="-290173" lvl="1">
              <a:lnSpc>
                <a:spcPts val="3289"/>
              </a:lnSpc>
              <a:buFont typeface="Arial"/>
              <a:buChar char="•"/>
            </a:pPr>
            <a:r>
              <a:rPr lang="en-US" sz="2799" spc="-13">
                <a:solidFill>
                  <a:srgbClr val="000000"/>
                </a:solidFill>
                <a:latin typeface="Times New Roman"/>
                <a:ea typeface="Times New Roman"/>
                <a:cs typeface="Times New Roman"/>
                <a:sym typeface="Times New Roman"/>
              </a:rPr>
              <a:t>Ensures proper switching of converter and inverter.</a:t>
            </a:r>
          </a:p>
          <a:p>
            <a:pPr algn="l" marL="580346" indent="-290173" lvl="1">
              <a:lnSpc>
                <a:spcPts val="3359"/>
              </a:lnSpc>
            </a:pPr>
          </a:p>
          <a:p>
            <a:pPr algn="l" marL="829066" indent="-414533" lvl="1">
              <a:lnSpc>
                <a:spcPts val="479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0802" y="1483988"/>
            <a:ext cx="14978995" cy="8803012"/>
          </a:xfrm>
          <a:custGeom>
            <a:avLst/>
            <a:gdLst/>
            <a:ahLst/>
            <a:cxnLst/>
            <a:rect r="r" b="b" t="t" l="l"/>
            <a:pathLst>
              <a:path h="8803012" w="14978995">
                <a:moveTo>
                  <a:pt x="0" y="0"/>
                </a:moveTo>
                <a:lnTo>
                  <a:pt x="14978996" y="0"/>
                </a:lnTo>
                <a:lnTo>
                  <a:pt x="14978996" y="8803012"/>
                </a:lnTo>
                <a:lnTo>
                  <a:pt x="0" y="8803012"/>
                </a:lnTo>
                <a:lnTo>
                  <a:pt x="0" y="0"/>
                </a:lnTo>
                <a:close/>
              </a:path>
            </a:pathLst>
          </a:custGeom>
          <a:blipFill>
            <a:blip r:embed="rId2"/>
            <a:stretch>
              <a:fillRect l="-1855" t="0" r="-1855" b="0"/>
            </a:stretch>
          </a:blipFill>
        </p:spPr>
      </p:sp>
      <p:sp>
        <p:nvSpPr>
          <p:cNvPr name="TextBox 3" id="3"/>
          <p:cNvSpPr txBox="true"/>
          <p:nvPr/>
        </p:nvSpPr>
        <p:spPr>
          <a:xfrm rot="0">
            <a:off x="702184" y="316231"/>
            <a:ext cx="10217944" cy="712469"/>
          </a:xfrm>
          <a:prstGeom prst="rect">
            <a:avLst/>
          </a:prstGeom>
        </p:spPr>
        <p:txBody>
          <a:bodyPr anchor="t" rtlCol="false" tIns="0" lIns="0" bIns="0" rIns="0">
            <a:spAutoFit/>
          </a:bodyPr>
          <a:lstStyle/>
          <a:p>
            <a:pPr algn="ctr">
              <a:lnSpc>
                <a:spcPts val="5880"/>
              </a:lnSpc>
            </a:pPr>
            <a:r>
              <a:rPr lang="en-US" sz="4200" b="true">
                <a:solidFill>
                  <a:srgbClr val="000000"/>
                </a:solidFill>
                <a:latin typeface="Canva Sans Bold"/>
                <a:ea typeface="Canva Sans Bold"/>
                <a:cs typeface="Canva Sans Bold"/>
                <a:sym typeface="Canva Sans Bold"/>
              </a:rPr>
              <a:t>Step</a:t>
            </a:r>
            <a:r>
              <a:rPr lang="en-US" b="true" sz="4200">
                <a:solidFill>
                  <a:srgbClr val="000000"/>
                </a:solidFill>
                <a:latin typeface="Canva Sans Bold"/>
                <a:ea typeface="Canva Sans Bold"/>
                <a:cs typeface="Canva Sans Bold"/>
                <a:sym typeface="Canva Sans Bold"/>
              </a:rPr>
              <a:t> 5: Switching Sequence Generation</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5496" y="218774"/>
            <a:ext cx="15523470" cy="9299345"/>
          </a:xfrm>
          <a:prstGeom prst="rect">
            <a:avLst/>
          </a:prstGeom>
        </p:spPr>
        <p:txBody>
          <a:bodyPr anchor="t" rtlCol="false" tIns="0" lIns="0" bIns="0" rIns="0">
            <a:spAutoFit/>
          </a:bodyPr>
          <a:lstStyle/>
          <a:p>
            <a:pPr algn="l" marL="813153" indent="-406577" lvl="1">
              <a:lnSpc>
                <a:spcPts val="3125"/>
              </a:lnSpc>
              <a:buFont typeface="Arial"/>
              <a:buChar char="•"/>
            </a:pPr>
            <a:r>
              <a:rPr lang="en-US" sz="2644">
                <a:solidFill>
                  <a:srgbClr val="000000"/>
                </a:solidFill>
                <a:latin typeface="Times New Roman"/>
                <a:ea typeface="Times New Roman"/>
                <a:cs typeface="Times New Roman"/>
                <a:sym typeface="Times New Roman"/>
              </a:rPr>
              <a:t>Logic circuits generate switching signals for inverter switches.</a:t>
            </a:r>
          </a:p>
          <a:p>
            <a:pPr algn="l" marL="813153" indent="-406577" lvl="1">
              <a:lnSpc>
                <a:spcPts val="3059"/>
              </a:lnSpc>
              <a:buFont typeface="Arial"/>
              <a:buChar char="•"/>
            </a:pPr>
            <a:r>
              <a:rPr lang="en-US" sz="2644">
                <a:solidFill>
                  <a:srgbClr val="000000"/>
                </a:solidFill>
                <a:latin typeface="Times New Roman"/>
                <a:ea typeface="Times New Roman"/>
                <a:cs typeface="Times New Roman"/>
                <a:sym typeface="Times New Roman"/>
              </a:rPr>
              <a:t>Uses </a:t>
            </a:r>
            <a:r>
              <a:rPr lang="en-US" b="true" sz="2644">
                <a:solidFill>
                  <a:srgbClr val="000000"/>
                </a:solidFill>
                <a:latin typeface="Times New Roman Bold"/>
                <a:ea typeface="Times New Roman Bold"/>
                <a:cs typeface="Times New Roman Bold"/>
                <a:sym typeface="Times New Roman Bold"/>
              </a:rPr>
              <a:t>level-shifted carrier SPWM technique</a:t>
            </a:r>
            <a:r>
              <a:rPr lang="en-US" sz="2644">
                <a:solidFill>
                  <a:srgbClr val="000000"/>
                </a:solidFill>
                <a:latin typeface="Times New Roman"/>
                <a:ea typeface="Times New Roman"/>
                <a:cs typeface="Times New Roman"/>
                <a:sym typeface="Times New Roman"/>
              </a:rPr>
              <a:t>.</a:t>
            </a:r>
          </a:p>
          <a:p>
            <a:pPr algn="l" marL="813153" indent="-406577" lvl="1">
              <a:lnSpc>
                <a:spcPts val="3106"/>
              </a:lnSpc>
              <a:buFont typeface="Arial"/>
              <a:buChar char="•"/>
            </a:pPr>
            <a:r>
              <a:rPr lang="en-US" sz="2644">
                <a:solidFill>
                  <a:srgbClr val="000000"/>
                </a:solidFill>
                <a:latin typeface="Times New Roman"/>
                <a:ea typeface="Times New Roman"/>
                <a:cs typeface="Times New Roman"/>
                <a:sym typeface="Times New Roman"/>
              </a:rPr>
              <a:t>A reference sine wave is compared with carrier signals.</a:t>
            </a:r>
          </a:p>
          <a:p>
            <a:pPr algn="l" marL="813153" indent="-406577" lvl="1">
              <a:lnSpc>
                <a:spcPts val="3173"/>
              </a:lnSpc>
            </a:pPr>
          </a:p>
          <a:p>
            <a:pPr algn="l" marL="1145807" indent="-572904" lvl="1">
              <a:lnSpc>
                <a:spcPts val="4471"/>
              </a:lnSpc>
            </a:pPr>
            <a:r>
              <a:rPr lang="en-US" b="true" sz="3725">
                <a:solidFill>
                  <a:srgbClr val="000000"/>
                </a:solidFill>
                <a:latin typeface="Times New Roman Bold"/>
                <a:ea typeface="Times New Roman Bold"/>
                <a:cs typeface="Times New Roman Bold"/>
                <a:sym typeface="Times New Roman Bold"/>
              </a:rPr>
              <a:t>Step 6: Multilevel Inversion (Core Operation)</a:t>
            </a:r>
          </a:p>
          <a:p>
            <a:pPr algn="l" marL="813153" indent="-406577" lvl="1">
              <a:lnSpc>
                <a:spcPts val="3125"/>
              </a:lnSpc>
              <a:buFont typeface="Arial"/>
              <a:buChar char="•"/>
            </a:pPr>
            <a:r>
              <a:rPr lang="en-US" sz="2644">
                <a:solidFill>
                  <a:srgbClr val="000000"/>
                </a:solidFill>
                <a:latin typeface="Times New Roman"/>
                <a:ea typeface="Times New Roman"/>
                <a:cs typeface="Times New Roman"/>
                <a:sym typeface="Times New Roman"/>
              </a:rPr>
              <a:t>The </a:t>
            </a:r>
            <a:r>
              <a:rPr lang="en-US" b="true" sz="2644">
                <a:solidFill>
                  <a:srgbClr val="000000"/>
                </a:solidFill>
                <a:latin typeface="Times New Roman Bold"/>
                <a:ea typeface="Times New Roman Bold"/>
                <a:cs typeface="Times New Roman Bold"/>
                <a:sym typeface="Times New Roman Bold"/>
              </a:rPr>
              <a:t>21-level inverter </a:t>
            </a:r>
            <a:r>
              <a:rPr lang="en-US" sz="2644">
                <a:solidFill>
                  <a:srgbClr val="000000"/>
                </a:solidFill>
                <a:latin typeface="Times New Roman"/>
                <a:ea typeface="Times New Roman"/>
                <a:cs typeface="Times New Roman"/>
                <a:sym typeface="Times New Roman"/>
              </a:rPr>
              <a:t>combines different DC voltages.</a:t>
            </a:r>
          </a:p>
          <a:p>
            <a:pPr algn="l" marL="813153" indent="-406577" lvl="1">
              <a:lnSpc>
                <a:spcPts val="3059"/>
              </a:lnSpc>
              <a:buFont typeface="Arial"/>
              <a:buChar char="•"/>
            </a:pPr>
            <a:r>
              <a:rPr lang="en-US" sz="2644">
                <a:solidFill>
                  <a:srgbClr val="000000"/>
                </a:solidFill>
                <a:latin typeface="Times New Roman"/>
                <a:ea typeface="Times New Roman"/>
                <a:cs typeface="Times New Roman"/>
                <a:sym typeface="Times New Roman"/>
              </a:rPr>
              <a:t>Switches operate in a specific sequence.</a:t>
            </a:r>
          </a:p>
          <a:p>
            <a:pPr algn="l" marL="813153" indent="-406577" lvl="1">
              <a:lnSpc>
                <a:spcPts val="3106"/>
              </a:lnSpc>
              <a:buFont typeface="Arial"/>
              <a:buChar char="•"/>
            </a:pPr>
            <a:r>
              <a:rPr lang="en-US" sz="2644">
                <a:solidFill>
                  <a:srgbClr val="000000"/>
                </a:solidFill>
                <a:latin typeface="Times New Roman"/>
                <a:ea typeface="Times New Roman"/>
                <a:cs typeface="Times New Roman"/>
                <a:sym typeface="Times New Roman"/>
              </a:rPr>
              <a:t>Produces a </a:t>
            </a:r>
            <a:r>
              <a:rPr lang="en-US" b="true" sz="2644">
                <a:solidFill>
                  <a:srgbClr val="000000"/>
                </a:solidFill>
                <a:latin typeface="Times New Roman Bold"/>
                <a:ea typeface="Times New Roman Bold"/>
                <a:cs typeface="Times New Roman Bold"/>
                <a:sym typeface="Times New Roman Bold"/>
              </a:rPr>
              <a:t>staircase waveform </a:t>
            </a:r>
            <a:r>
              <a:rPr lang="en-US" sz="2644">
                <a:solidFill>
                  <a:srgbClr val="000000"/>
                </a:solidFill>
                <a:latin typeface="Times New Roman"/>
                <a:ea typeface="Times New Roman"/>
                <a:cs typeface="Times New Roman"/>
                <a:sym typeface="Times New Roman"/>
              </a:rPr>
              <a:t>close to sine wave.</a:t>
            </a:r>
          </a:p>
          <a:p>
            <a:pPr algn="l" marL="813153" indent="-406577" lvl="1">
              <a:lnSpc>
                <a:spcPts val="3173"/>
              </a:lnSpc>
            </a:pPr>
          </a:p>
          <a:p>
            <a:pPr algn="l" marL="1145807" indent="-572904" lvl="1">
              <a:lnSpc>
                <a:spcPts val="4471"/>
              </a:lnSpc>
            </a:pPr>
            <a:r>
              <a:rPr lang="en-US" b="true" sz="3725">
                <a:solidFill>
                  <a:srgbClr val="000000"/>
                </a:solidFill>
                <a:latin typeface="Times New Roman Bold"/>
                <a:ea typeface="Times New Roman Bold"/>
                <a:cs typeface="Times New Roman Bold"/>
                <a:sym typeface="Times New Roman Bold"/>
              </a:rPr>
              <a:t>Step 7: Gate Driving</a:t>
            </a:r>
          </a:p>
          <a:p>
            <a:pPr algn="l" marL="813153" indent="-406577" lvl="1">
              <a:lnSpc>
                <a:spcPts val="3125"/>
              </a:lnSpc>
              <a:buFont typeface="Arial"/>
              <a:buChar char="•"/>
            </a:pPr>
            <a:r>
              <a:rPr lang="en-US" sz="2644">
                <a:solidFill>
                  <a:srgbClr val="000000"/>
                </a:solidFill>
                <a:latin typeface="Times New Roman"/>
                <a:ea typeface="Times New Roman"/>
                <a:cs typeface="Times New Roman"/>
                <a:sym typeface="Times New Roman"/>
              </a:rPr>
              <a:t>Signals from controller (dSPACE RTI1104) go to </a:t>
            </a:r>
            <a:r>
              <a:rPr lang="en-US" b="true" sz="2644">
                <a:solidFill>
                  <a:srgbClr val="000000"/>
                </a:solidFill>
                <a:latin typeface="Times New Roman Bold"/>
                <a:ea typeface="Times New Roman Bold"/>
                <a:cs typeface="Times New Roman Bold"/>
                <a:sym typeface="Times New Roman Bold"/>
              </a:rPr>
              <a:t>gate drivers</a:t>
            </a:r>
            <a:r>
              <a:rPr lang="en-US" sz="2644">
                <a:solidFill>
                  <a:srgbClr val="000000"/>
                </a:solidFill>
                <a:latin typeface="Times New Roman"/>
                <a:ea typeface="Times New Roman"/>
                <a:cs typeface="Times New Roman"/>
                <a:sym typeface="Times New Roman"/>
              </a:rPr>
              <a:t>.</a:t>
            </a:r>
          </a:p>
          <a:p>
            <a:pPr algn="l" marL="813153" indent="-406577" lvl="1">
              <a:lnSpc>
                <a:spcPts val="3125"/>
              </a:lnSpc>
              <a:buFont typeface="Arial"/>
              <a:buChar char="•"/>
            </a:pPr>
            <a:r>
              <a:rPr lang="en-US" sz="2644">
                <a:solidFill>
                  <a:srgbClr val="000000"/>
                </a:solidFill>
                <a:latin typeface="Times New Roman"/>
                <a:ea typeface="Times New Roman"/>
                <a:cs typeface="Times New Roman"/>
                <a:sym typeface="Times New Roman"/>
              </a:rPr>
              <a:t>Gate drivers amplify signals to drive power switches (IGBTs/MOSFETs).</a:t>
            </a:r>
          </a:p>
          <a:p>
            <a:pPr algn="l" marL="813153" indent="-406577" lvl="1">
              <a:lnSpc>
                <a:spcPts val="3173"/>
              </a:lnSpc>
            </a:pPr>
          </a:p>
          <a:p>
            <a:pPr algn="l" marL="1145807" indent="-572904" lvl="1">
              <a:lnSpc>
                <a:spcPts val="4471"/>
              </a:lnSpc>
            </a:pPr>
            <a:r>
              <a:rPr lang="en-US" b="true" sz="3725">
                <a:solidFill>
                  <a:srgbClr val="000000"/>
                </a:solidFill>
                <a:latin typeface="Times New Roman Bold"/>
                <a:ea typeface="Times New Roman Bold"/>
                <a:cs typeface="Times New Roman Bold"/>
                <a:sym typeface="Times New Roman Bold"/>
              </a:rPr>
              <a:t>Step 8: AC Output Generation</a:t>
            </a:r>
          </a:p>
          <a:p>
            <a:pPr algn="l" marL="813153" indent="-406577" lvl="1">
              <a:lnSpc>
                <a:spcPts val="3125"/>
              </a:lnSpc>
              <a:buFont typeface="Arial"/>
              <a:buChar char="•"/>
            </a:pPr>
            <a:r>
              <a:rPr lang="en-US" sz="2644">
                <a:solidFill>
                  <a:srgbClr val="000000"/>
                </a:solidFill>
                <a:latin typeface="Times New Roman"/>
                <a:ea typeface="Times New Roman"/>
                <a:cs typeface="Times New Roman"/>
                <a:sym typeface="Times New Roman"/>
              </a:rPr>
              <a:t>The inverter output is a </a:t>
            </a:r>
            <a:r>
              <a:rPr lang="en-US" b="true" sz="2644">
                <a:solidFill>
                  <a:srgbClr val="000000"/>
                </a:solidFill>
                <a:latin typeface="Times New Roman Bold"/>
                <a:ea typeface="Times New Roman Bold"/>
                <a:cs typeface="Times New Roman Bold"/>
                <a:sym typeface="Times New Roman Bold"/>
              </a:rPr>
              <a:t>21-level AC voltage waveform</a:t>
            </a:r>
            <a:r>
              <a:rPr lang="en-US" sz="2644">
                <a:solidFill>
                  <a:srgbClr val="000000"/>
                </a:solidFill>
                <a:latin typeface="Times New Roman"/>
                <a:ea typeface="Times New Roman"/>
                <a:cs typeface="Times New Roman"/>
                <a:sym typeface="Times New Roman"/>
              </a:rPr>
              <a:t>.</a:t>
            </a:r>
          </a:p>
          <a:p>
            <a:pPr algn="l" marL="813153" indent="-406577" lvl="1">
              <a:lnSpc>
                <a:spcPts val="3059"/>
              </a:lnSpc>
              <a:buFont typeface="Arial"/>
              <a:buChar char="•"/>
            </a:pPr>
            <a:r>
              <a:rPr lang="en-US" sz="2644">
                <a:solidFill>
                  <a:srgbClr val="000000"/>
                </a:solidFill>
                <a:latin typeface="Times New Roman"/>
                <a:ea typeface="Times New Roman"/>
                <a:cs typeface="Times New Roman"/>
                <a:sym typeface="Times New Roman"/>
              </a:rPr>
              <a:t>It has </a:t>
            </a:r>
            <a:r>
              <a:rPr lang="en-US" b="true" sz="2644">
                <a:solidFill>
                  <a:srgbClr val="000000"/>
                </a:solidFill>
                <a:latin typeface="Times New Roman Bold"/>
                <a:ea typeface="Times New Roman Bold"/>
                <a:cs typeface="Times New Roman Bold"/>
                <a:sym typeface="Times New Roman Bold"/>
              </a:rPr>
              <a:t>low harmonic distortion (THD)</a:t>
            </a:r>
            <a:r>
              <a:rPr lang="en-US" sz="2644">
                <a:solidFill>
                  <a:srgbClr val="000000"/>
                </a:solidFill>
                <a:latin typeface="Times New Roman"/>
                <a:ea typeface="Times New Roman"/>
                <a:cs typeface="Times New Roman"/>
                <a:sym typeface="Times New Roman"/>
              </a:rPr>
              <a:t>.</a:t>
            </a:r>
          </a:p>
          <a:p>
            <a:pPr algn="l" marL="813153" indent="-406577" lvl="1">
              <a:lnSpc>
                <a:spcPts val="3106"/>
              </a:lnSpc>
              <a:buFont typeface="Arial"/>
              <a:buChar char="•"/>
            </a:pPr>
            <a:r>
              <a:rPr lang="en-US" sz="2644">
                <a:solidFill>
                  <a:srgbClr val="000000"/>
                </a:solidFill>
                <a:latin typeface="Times New Roman"/>
                <a:ea typeface="Times New Roman"/>
                <a:cs typeface="Times New Roman"/>
                <a:sym typeface="Times New Roman"/>
              </a:rPr>
              <a:t>Output is supplied to load or grid.</a:t>
            </a:r>
          </a:p>
          <a:p>
            <a:pPr algn="l" marL="813153" indent="-406577" lvl="1">
              <a:lnSpc>
                <a:spcPts val="3173"/>
              </a:lnSpc>
            </a:pPr>
          </a:p>
          <a:p>
            <a:pPr algn="l" marL="1145807" indent="-572904" lvl="1">
              <a:lnSpc>
                <a:spcPts val="4471"/>
              </a:lnSpc>
            </a:pPr>
            <a:r>
              <a:rPr lang="en-US" b="true" sz="3725">
                <a:solidFill>
                  <a:srgbClr val="000000"/>
                </a:solidFill>
                <a:latin typeface="Times New Roman Bold"/>
                <a:ea typeface="Times New Roman Bold"/>
                <a:cs typeface="Times New Roman Bold"/>
                <a:sym typeface="Times New Roman Bold"/>
              </a:rPr>
              <a:t>Step 9: Load/Grid Connection</a:t>
            </a:r>
          </a:p>
          <a:p>
            <a:pPr algn="l" marL="813153" indent="-406577" lvl="1">
              <a:lnSpc>
                <a:spcPts val="3173"/>
              </a:lnSpc>
              <a:buFont typeface="Arial"/>
              <a:buChar char="•"/>
            </a:pPr>
            <a:r>
              <a:rPr lang="en-US" sz="2644" spc="-18">
                <a:solidFill>
                  <a:srgbClr val="000000"/>
                </a:solidFill>
                <a:latin typeface="Times New Roman"/>
                <a:ea typeface="Times New Roman"/>
                <a:cs typeface="Times New Roman"/>
                <a:sym typeface="Times New Roman"/>
              </a:rPr>
              <a:t>Output is connected to:</a:t>
            </a:r>
          </a:p>
          <a:p>
            <a:pPr algn="l" marL="1676679" indent="-558893" lvl="2">
              <a:lnSpc>
                <a:spcPts val="3106"/>
              </a:lnSpc>
              <a:buFont typeface="Arial"/>
              <a:buChar char="⚬"/>
            </a:pPr>
            <a:r>
              <a:rPr lang="en-US" sz="2644" spc="-18">
                <a:solidFill>
                  <a:srgbClr val="000000"/>
                </a:solidFill>
                <a:latin typeface="Times New Roman"/>
                <a:ea typeface="Times New Roman"/>
                <a:cs typeface="Times New Roman"/>
                <a:sym typeface="Times New Roman"/>
              </a:rPr>
              <a:t>Resistive (R) load</a:t>
            </a:r>
          </a:p>
          <a:p>
            <a:pPr algn="l" marL="1676679" indent="-558893" lvl="2">
              <a:lnSpc>
                <a:spcPts val="3106"/>
              </a:lnSpc>
              <a:buFont typeface="Arial"/>
              <a:buChar char="⚬"/>
            </a:pPr>
            <a:r>
              <a:rPr lang="en-US" sz="2644" spc="-18">
                <a:solidFill>
                  <a:srgbClr val="000000"/>
                </a:solidFill>
                <a:latin typeface="Times New Roman"/>
                <a:ea typeface="Times New Roman"/>
                <a:cs typeface="Times New Roman"/>
                <a:sym typeface="Times New Roman"/>
              </a:rPr>
              <a:t>Inductive (RL) load</a:t>
            </a:r>
          </a:p>
        </p:txBody>
      </p:sp>
      <p:sp>
        <p:nvSpPr>
          <p:cNvPr name="TextBox 3" id="3"/>
          <p:cNvSpPr txBox="true"/>
          <p:nvPr/>
        </p:nvSpPr>
        <p:spPr>
          <a:xfrm rot="0">
            <a:off x="556657" y="9499069"/>
            <a:ext cx="5081780" cy="668831"/>
          </a:xfrm>
          <a:prstGeom prst="rect">
            <a:avLst/>
          </a:prstGeom>
        </p:spPr>
        <p:txBody>
          <a:bodyPr anchor="t" rtlCol="false" tIns="0" lIns="0" bIns="0" rIns="0">
            <a:spAutoFit/>
          </a:bodyPr>
          <a:lstStyle/>
          <a:p>
            <a:pPr algn="l" marL="1307596" indent="-653798" lvl="1">
              <a:lnSpc>
                <a:spcPts val="2601"/>
              </a:lnSpc>
              <a:buFont typeface="Arial"/>
              <a:buChar char="•"/>
            </a:pPr>
            <a:r>
              <a:rPr lang="en-US" sz="2214" spc="-15">
                <a:solidFill>
                  <a:srgbClr val="000000"/>
                </a:solidFill>
                <a:latin typeface="Times New Roman"/>
                <a:ea typeface="Times New Roman"/>
                <a:cs typeface="Times New Roman"/>
                <a:sym typeface="Times New Roman"/>
              </a:rPr>
              <a:t>Grid system</a:t>
            </a:r>
          </a:p>
          <a:p>
            <a:pPr algn="l" marL="584341" indent="-292170" lvl="1">
              <a:lnSpc>
                <a:spcPts val="2601"/>
              </a:lnSpc>
              <a:buFont typeface="Arial"/>
              <a:buChar char="•"/>
            </a:pPr>
            <a:r>
              <a:rPr lang="en-US" sz="2214" spc="-15">
                <a:solidFill>
                  <a:srgbClr val="000000"/>
                </a:solidFill>
                <a:latin typeface="Times New Roman"/>
                <a:ea typeface="Times New Roman"/>
                <a:cs typeface="Times New Roman"/>
                <a:sym typeface="Times New Roman"/>
              </a:rPr>
              <a:t>Provides stable and efficient power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888224" y="8775878"/>
            <a:ext cx="2904172" cy="548640"/>
          </a:xfrm>
          <a:prstGeom prst="rect">
            <a:avLst/>
          </a:prstGeom>
        </p:spPr>
        <p:txBody>
          <a:bodyPr anchor="t" rtlCol="false" tIns="0" lIns="0" bIns="0" rIns="0">
            <a:spAutoFit/>
          </a:bodyPr>
          <a:lstStyle/>
          <a:p>
            <a:pPr algn="l">
              <a:lnSpc>
                <a:spcPts val="3960"/>
              </a:lnSpc>
            </a:pPr>
            <a:r>
              <a:rPr lang="en-US" b="true" sz="3300" spc="-15">
                <a:solidFill>
                  <a:srgbClr val="000000"/>
                </a:solidFill>
                <a:latin typeface="Times New Roman Bold"/>
                <a:ea typeface="Times New Roman Bold"/>
                <a:cs typeface="Times New Roman Bold"/>
                <a:sym typeface="Times New Roman Bold"/>
              </a:rPr>
              <a:t>Output Current</a:t>
            </a:r>
          </a:p>
        </p:txBody>
      </p:sp>
      <p:grpSp>
        <p:nvGrpSpPr>
          <p:cNvPr name="Group 3" id="3"/>
          <p:cNvGrpSpPr/>
          <p:nvPr/>
        </p:nvGrpSpPr>
        <p:grpSpPr>
          <a:xfrm rot="0">
            <a:off x="3039876" y="1249115"/>
            <a:ext cx="13233197" cy="8075403"/>
            <a:chOff x="0" y="0"/>
            <a:chExt cx="11082147" cy="6762750"/>
          </a:xfrm>
        </p:grpSpPr>
        <p:sp>
          <p:nvSpPr>
            <p:cNvPr name="Freeform 4" id="4"/>
            <p:cNvSpPr/>
            <p:nvPr/>
          </p:nvSpPr>
          <p:spPr>
            <a:xfrm flipH="false" flipV="false" rot="0">
              <a:off x="0" y="0"/>
              <a:ext cx="11082148" cy="6762750"/>
            </a:xfrm>
            <a:custGeom>
              <a:avLst/>
              <a:gdLst/>
              <a:ahLst/>
              <a:cxnLst/>
              <a:rect r="r" b="b" t="t" l="l"/>
              <a:pathLst>
                <a:path h="6762750" w="11082148">
                  <a:moveTo>
                    <a:pt x="0" y="0"/>
                  </a:moveTo>
                  <a:lnTo>
                    <a:pt x="11082148" y="0"/>
                  </a:lnTo>
                  <a:lnTo>
                    <a:pt x="11082148" y="6762750"/>
                  </a:lnTo>
                  <a:lnTo>
                    <a:pt x="0" y="6762750"/>
                  </a:lnTo>
                  <a:lnTo>
                    <a:pt x="0" y="0"/>
                  </a:lnTo>
                  <a:close/>
                </a:path>
              </a:pathLst>
            </a:custGeom>
            <a:blipFill>
              <a:blip r:embed="rId2"/>
              <a:stretch>
                <a:fillRect l="-3632" t="0" r="-3632" b="0"/>
              </a:stretch>
            </a:blipFill>
          </p:spPr>
        </p:sp>
      </p:grpSp>
      <p:sp>
        <p:nvSpPr>
          <p:cNvPr name="TextBox 5" id="5"/>
          <p:cNvSpPr txBox="true"/>
          <p:nvPr/>
        </p:nvSpPr>
        <p:spPr>
          <a:xfrm rot="0">
            <a:off x="532933" y="23508"/>
            <a:ext cx="4298136" cy="1005192"/>
          </a:xfrm>
          <a:prstGeom prst="rect">
            <a:avLst/>
          </a:prstGeom>
        </p:spPr>
        <p:txBody>
          <a:bodyPr anchor="t" rtlCol="false" tIns="0" lIns="0" bIns="0" rIns="0">
            <a:spAutoFit/>
          </a:bodyPr>
          <a:lstStyle/>
          <a:p>
            <a:pPr algn="ctr">
              <a:lnSpc>
                <a:spcPts val="8120"/>
              </a:lnSpc>
            </a:pPr>
            <a:r>
              <a:rPr lang="en-US" sz="5800" b="true">
                <a:solidFill>
                  <a:srgbClr val="19191A"/>
                </a:solidFill>
                <a:latin typeface="Canva Sans Bold"/>
                <a:ea typeface="Canva Sans Bold"/>
                <a:cs typeface="Canva Sans Bold"/>
                <a:sym typeface="Canva Sans Bold"/>
              </a:rPr>
              <a:t>RESULTS:</a:t>
            </a:r>
          </a:p>
        </p:txBody>
      </p:sp>
      <p:sp>
        <p:nvSpPr>
          <p:cNvPr name="TextBox 6" id="6"/>
          <p:cNvSpPr txBox="true"/>
          <p:nvPr/>
        </p:nvSpPr>
        <p:spPr>
          <a:xfrm rot="0">
            <a:off x="3724126" y="9476918"/>
            <a:ext cx="11679519"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Figure</a:t>
            </a:r>
            <a:r>
              <a:rPr lang="en-US" sz="3399">
                <a:solidFill>
                  <a:srgbClr val="000000"/>
                </a:solidFill>
                <a:latin typeface="Canva Sans"/>
                <a:ea typeface="Canva Sans"/>
                <a:cs typeface="Canva Sans"/>
                <a:sym typeface="Canva Sans"/>
              </a:rPr>
              <a:t> 4. Gate pulses for the eight MOSFET switches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71243" y="7275849"/>
            <a:ext cx="2755850" cy="514350"/>
          </a:xfrm>
          <a:prstGeom prst="rect">
            <a:avLst/>
          </a:prstGeom>
        </p:spPr>
        <p:txBody>
          <a:bodyPr anchor="t" rtlCol="false" tIns="0" lIns="0" bIns="0" rIns="0">
            <a:spAutoFit/>
          </a:bodyPr>
          <a:lstStyle/>
          <a:p>
            <a:pPr algn="l">
              <a:lnSpc>
                <a:spcPts val="3960"/>
              </a:lnSpc>
            </a:pPr>
            <a:r>
              <a:rPr lang="en-US" b="true" sz="3300" spc="-15">
                <a:solidFill>
                  <a:srgbClr val="000000"/>
                </a:solidFill>
                <a:latin typeface="Times New Roman Bold"/>
                <a:ea typeface="Times New Roman Bold"/>
                <a:cs typeface="Times New Roman Bold"/>
                <a:sym typeface="Times New Roman Bold"/>
              </a:rPr>
              <a:t>Output Voltage</a:t>
            </a:r>
          </a:p>
        </p:txBody>
      </p:sp>
      <p:sp>
        <p:nvSpPr>
          <p:cNvPr name="TextBox 3" id="3"/>
          <p:cNvSpPr txBox="true"/>
          <p:nvPr/>
        </p:nvSpPr>
        <p:spPr>
          <a:xfrm rot="0">
            <a:off x="12831508" y="5601462"/>
            <a:ext cx="3011805" cy="548640"/>
          </a:xfrm>
          <a:prstGeom prst="rect">
            <a:avLst/>
          </a:prstGeom>
        </p:spPr>
        <p:txBody>
          <a:bodyPr anchor="t" rtlCol="false" tIns="0" lIns="0" bIns="0" rIns="0">
            <a:spAutoFit/>
          </a:bodyPr>
          <a:lstStyle/>
          <a:p>
            <a:pPr algn="l">
              <a:lnSpc>
                <a:spcPts val="3960"/>
              </a:lnSpc>
            </a:pPr>
            <a:r>
              <a:rPr lang="en-US" b="true" sz="3300" spc="-15">
                <a:solidFill>
                  <a:srgbClr val="000000"/>
                </a:solidFill>
                <a:latin typeface="Times New Roman Bold"/>
                <a:ea typeface="Times New Roman Bold"/>
                <a:cs typeface="Times New Roman Bold"/>
                <a:sym typeface="Times New Roman Bold"/>
              </a:rPr>
              <a:t>FFT VOLTAGE</a:t>
            </a:r>
          </a:p>
        </p:txBody>
      </p:sp>
      <p:grpSp>
        <p:nvGrpSpPr>
          <p:cNvPr name="Group 4" id="4"/>
          <p:cNvGrpSpPr/>
          <p:nvPr/>
        </p:nvGrpSpPr>
        <p:grpSpPr>
          <a:xfrm rot="0">
            <a:off x="4128319" y="116205"/>
            <a:ext cx="11714995" cy="5027295"/>
            <a:chOff x="0" y="0"/>
            <a:chExt cx="15619993" cy="6703060"/>
          </a:xfrm>
        </p:grpSpPr>
        <p:sp>
          <p:nvSpPr>
            <p:cNvPr name="Freeform 5" id="5"/>
            <p:cNvSpPr/>
            <p:nvPr/>
          </p:nvSpPr>
          <p:spPr>
            <a:xfrm flipH="false" flipV="false" rot="0">
              <a:off x="0" y="0"/>
              <a:ext cx="15619992" cy="6703060"/>
            </a:xfrm>
            <a:custGeom>
              <a:avLst/>
              <a:gdLst/>
              <a:ahLst/>
              <a:cxnLst/>
              <a:rect r="r" b="b" t="t" l="l"/>
              <a:pathLst>
                <a:path h="6703060" w="15619992">
                  <a:moveTo>
                    <a:pt x="0" y="0"/>
                  </a:moveTo>
                  <a:lnTo>
                    <a:pt x="15619992" y="0"/>
                  </a:lnTo>
                  <a:lnTo>
                    <a:pt x="15619992" y="6703060"/>
                  </a:lnTo>
                  <a:lnTo>
                    <a:pt x="0" y="6703060"/>
                  </a:lnTo>
                  <a:lnTo>
                    <a:pt x="0" y="0"/>
                  </a:lnTo>
                  <a:close/>
                </a:path>
              </a:pathLst>
            </a:custGeom>
            <a:blipFill>
              <a:blip r:embed="rId2"/>
              <a:stretch>
                <a:fillRect l="0" t="-15251" r="0" b="-15251"/>
              </a:stretch>
            </a:blipFill>
          </p:spPr>
        </p:sp>
      </p:grpSp>
      <p:grpSp>
        <p:nvGrpSpPr>
          <p:cNvPr name="Group 6" id="6"/>
          <p:cNvGrpSpPr/>
          <p:nvPr/>
        </p:nvGrpSpPr>
        <p:grpSpPr>
          <a:xfrm rot="0">
            <a:off x="4128319" y="5293397"/>
            <a:ext cx="11714995" cy="4993603"/>
            <a:chOff x="0" y="0"/>
            <a:chExt cx="15619993" cy="6658137"/>
          </a:xfrm>
        </p:grpSpPr>
        <p:sp>
          <p:nvSpPr>
            <p:cNvPr name="Freeform 7" id="7"/>
            <p:cNvSpPr/>
            <p:nvPr/>
          </p:nvSpPr>
          <p:spPr>
            <a:xfrm flipH="false" flipV="false" rot="0">
              <a:off x="0" y="0"/>
              <a:ext cx="15619994" cy="6658137"/>
            </a:xfrm>
            <a:custGeom>
              <a:avLst/>
              <a:gdLst/>
              <a:ahLst/>
              <a:cxnLst/>
              <a:rect r="r" b="b" t="t" l="l"/>
              <a:pathLst>
                <a:path h="6658137" w="15619994">
                  <a:moveTo>
                    <a:pt x="0" y="0"/>
                  </a:moveTo>
                  <a:lnTo>
                    <a:pt x="15619994" y="0"/>
                  </a:lnTo>
                  <a:lnTo>
                    <a:pt x="15619994" y="6658137"/>
                  </a:lnTo>
                  <a:lnTo>
                    <a:pt x="0" y="6658137"/>
                  </a:lnTo>
                  <a:lnTo>
                    <a:pt x="0" y="0"/>
                  </a:lnTo>
                  <a:close/>
                </a:path>
              </a:pathLst>
            </a:custGeom>
            <a:blipFill>
              <a:blip r:embed="rId3"/>
              <a:stretch>
                <a:fillRect l="0" t="-15691" r="0" b="-15691"/>
              </a:stretch>
            </a:blipFill>
          </p:spPr>
        </p:sp>
      </p:grpSp>
      <p:sp>
        <p:nvSpPr>
          <p:cNvPr name="TextBox 8" id="8"/>
          <p:cNvSpPr txBox="true"/>
          <p:nvPr/>
        </p:nvSpPr>
        <p:spPr>
          <a:xfrm rot="0">
            <a:off x="871243" y="1850708"/>
            <a:ext cx="2849017" cy="514350"/>
          </a:xfrm>
          <a:prstGeom prst="rect">
            <a:avLst/>
          </a:prstGeom>
        </p:spPr>
        <p:txBody>
          <a:bodyPr anchor="t" rtlCol="false" tIns="0" lIns="0" bIns="0" rIns="0">
            <a:spAutoFit/>
          </a:bodyPr>
          <a:lstStyle/>
          <a:p>
            <a:pPr algn="l">
              <a:lnSpc>
                <a:spcPts val="3960"/>
              </a:lnSpc>
            </a:pPr>
            <a:r>
              <a:rPr lang="en-US" b="true" sz="3300" spc="-15">
                <a:solidFill>
                  <a:srgbClr val="000000"/>
                </a:solidFill>
                <a:latin typeface="Times New Roman Bold"/>
                <a:ea typeface="Times New Roman Bold"/>
                <a:cs typeface="Times New Roman Bold"/>
                <a:sym typeface="Times New Roman Bold"/>
              </a:rPr>
              <a:t>Output Current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546712" y="2057781"/>
            <a:ext cx="3006090" cy="548640"/>
          </a:xfrm>
          <a:prstGeom prst="rect">
            <a:avLst/>
          </a:prstGeom>
        </p:spPr>
        <p:txBody>
          <a:bodyPr anchor="t" rtlCol="false" tIns="0" lIns="0" bIns="0" rIns="0">
            <a:spAutoFit/>
          </a:bodyPr>
          <a:lstStyle/>
          <a:p>
            <a:pPr algn="l">
              <a:lnSpc>
                <a:spcPts val="3960"/>
              </a:lnSpc>
            </a:pPr>
            <a:r>
              <a:rPr lang="en-US" b="true" sz="3300" spc="-15">
                <a:solidFill>
                  <a:srgbClr val="000000"/>
                </a:solidFill>
                <a:latin typeface="Times New Roman Bold"/>
                <a:ea typeface="Times New Roman Bold"/>
                <a:cs typeface="Times New Roman Bold"/>
                <a:sym typeface="Times New Roman Bold"/>
              </a:rPr>
              <a:t>FFT CURRENT</a:t>
            </a:r>
          </a:p>
        </p:txBody>
      </p:sp>
      <p:sp>
        <p:nvSpPr>
          <p:cNvPr name="TextBox 3" id="3"/>
          <p:cNvSpPr txBox="true"/>
          <p:nvPr/>
        </p:nvSpPr>
        <p:spPr>
          <a:xfrm rot="0">
            <a:off x="250698" y="5064633"/>
            <a:ext cx="75248" cy="91440"/>
          </a:xfrm>
          <a:prstGeom prst="rect">
            <a:avLst/>
          </a:prstGeom>
        </p:spPr>
        <p:txBody>
          <a:bodyPr anchor="t" rtlCol="false" tIns="0" lIns="0" bIns="0" rIns="0">
            <a:spAutoFit/>
          </a:bodyPr>
          <a:lstStyle/>
          <a:p>
            <a:pPr algn="l">
              <a:lnSpc>
                <a:spcPts val="450"/>
              </a:lnSpc>
            </a:pPr>
            <a:r>
              <a:rPr lang="en-US" b="true" sz="375" spc="-37">
                <a:solidFill>
                  <a:srgbClr val="000000"/>
                </a:solidFill>
                <a:latin typeface="Times New Roman Bold"/>
                <a:ea typeface="Times New Roman Bold"/>
                <a:cs typeface="Times New Roman Bold"/>
                <a:sym typeface="Times New Roman Bold"/>
              </a:rPr>
              <a:t>ff</a:t>
            </a:r>
          </a:p>
        </p:txBody>
      </p:sp>
      <p:grpSp>
        <p:nvGrpSpPr>
          <p:cNvPr name="Group 4" id="4"/>
          <p:cNvGrpSpPr/>
          <p:nvPr/>
        </p:nvGrpSpPr>
        <p:grpSpPr>
          <a:xfrm rot="0">
            <a:off x="737068" y="384048"/>
            <a:ext cx="8978265" cy="4444746"/>
            <a:chOff x="0" y="0"/>
            <a:chExt cx="11971020" cy="5926328"/>
          </a:xfrm>
        </p:grpSpPr>
        <p:sp>
          <p:nvSpPr>
            <p:cNvPr name="Freeform 5" id="5"/>
            <p:cNvSpPr/>
            <p:nvPr/>
          </p:nvSpPr>
          <p:spPr>
            <a:xfrm flipH="false" flipV="false" rot="0">
              <a:off x="0" y="0"/>
              <a:ext cx="11971020" cy="5926328"/>
            </a:xfrm>
            <a:custGeom>
              <a:avLst/>
              <a:gdLst/>
              <a:ahLst/>
              <a:cxnLst/>
              <a:rect r="r" b="b" t="t" l="l"/>
              <a:pathLst>
                <a:path h="5926328" w="11971020">
                  <a:moveTo>
                    <a:pt x="0" y="0"/>
                  </a:moveTo>
                  <a:lnTo>
                    <a:pt x="11971020" y="0"/>
                  </a:lnTo>
                  <a:lnTo>
                    <a:pt x="11971020" y="5926328"/>
                  </a:lnTo>
                  <a:lnTo>
                    <a:pt x="0" y="5926328"/>
                  </a:lnTo>
                  <a:lnTo>
                    <a:pt x="0" y="0"/>
                  </a:lnTo>
                  <a:close/>
                </a:path>
              </a:pathLst>
            </a:custGeom>
            <a:blipFill>
              <a:blip r:embed="rId2"/>
              <a:stretch>
                <a:fillRect l="0" t="-6562" r="0" b="-6562"/>
              </a:stretch>
            </a:blipFill>
          </p:spPr>
        </p:sp>
      </p:grpSp>
      <p:grpSp>
        <p:nvGrpSpPr>
          <p:cNvPr name="Group 6" id="6"/>
          <p:cNvGrpSpPr/>
          <p:nvPr/>
        </p:nvGrpSpPr>
        <p:grpSpPr>
          <a:xfrm rot="0">
            <a:off x="9451762" y="5575519"/>
            <a:ext cx="8202080" cy="4337285"/>
            <a:chOff x="0" y="0"/>
            <a:chExt cx="10936107" cy="5783047"/>
          </a:xfrm>
        </p:grpSpPr>
        <p:sp>
          <p:nvSpPr>
            <p:cNvPr name="Freeform 7" id="7"/>
            <p:cNvSpPr/>
            <p:nvPr/>
          </p:nvSpPr>
          <p:spPr>
            <a:xfrm flipH="false" flipV="false" rot="0">
              <a:off x="0" y="0"/>
              <a:ext cx="10936107" cy="5783072"/>
            </a:xfrm>
            <a:custGeom>
              <a:avLst/>
              <a:gdLst/>
              <a:ahLst/>
              <a:cxnLst/>
              <a:rect r="r" b="b" t="t" l="l"/>
              <a:pathLst>
                <a:path h="5783072" w="10936107">
                  <a:moveTo>
                    <a:pt x="0" y="0"/>
                  </a:moveTo>
                  <a:lnTo>
                    <a:pt x="10936107" y="0"/>
                  </a:lnTo>
                  <a:lnTo>
                    <a:pt x="10936107" y="5783072"/>
                  </a:lnTo>
                  <a:lnTo>
                    <a:pt x="0" y="5783072"/>
                  </a:lnTo>
                  <a:lnTo>
                    <a:pt x="0" y="0"/>
                  </a:lnTo>
                  <a:close/>
                </a:path>
              </a:pathLst>
            </a:custGeom>
            <a:blipFill>
              <a:blip r:embed="rId3"/>
              <a:stretch>
                <a:fillRect l="0" t="-3716" r="0" b="-3716"/>
              </a:stretch>
            </a:blipFill>
          </p:spPr>
        </p:sp>
      </p:grpSp>
      <p:sp>
        <p:nvSpPr>
          <p:cNvPr name="TextBox 8" id="8"/>
          <p:cNvSpPr txBox="true"/>
          <p:nvPr/>
        </p:nvSpPr>
        <p:spPr>
          <a:xfrm rot="0">
            <a:off x="4338069" y="7460317"/>
            <a:ext cx="2973983" cy="1009650"/>
          </a:xfrm>
          <a:prstGeom prst="rect">
            <a:avLst/>
          </a:prstGeom>
        </p:spPr>
        <p:txBody>
          <a:bodyPr anchor="t" rtlCol="false" tIns="0" lIns="0" bIns="0" rIns="0">
            <a:spAutoFit/>
          </a:bodyPr>
          <a:lstStyle/>
          <a:p>
            <a:pPr algn="l">
              <a:lnSpc>
                <a:spcPts val="3960"/>
              </a:lnSpc>
            </a:pPr>
            <a:r>
              <a:rPr lang="en-US" b="true" sz="3300" spc="-13">
                <a:solidFill>
                  <a:srgbClr val="000000"/>
                </a:solidFill>
                <a:latin typeface="Times New Roman Bold"/>
                <a:ea typeface="Times New Roman Bold"/>
                <a:cs typeface="Times New Roman Bold"/>
                <a:sym typeface="Times New Roman Bold"/>
              </a:rPr>
              <a:t>FFT VOLTAGE</a:t>
            </a:r>
          </a:p>
          <a:p>
            <a:pPr algn="l">
              <a:lnSpc>
                <a:spcPts val="3960"/>
              </a:lnSpc>
            </a:pP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56411" y="615877"/>
            <a:ext cx="4560570" cy="686114"/>
          </a:xfrm>
          <a:prstGeom prst="rect">
            <a:avLst/>
          </a:prstGeom>
        </p:spPr>
        <p:txBody>
          <a:bodyPr anchor="t" rtlCol="false" tIns="0" lIns="0" bIns="0" rIns="0">
            <a:spAutoFit/>
          </a:bodyPr>
          <a:lstStyle/>
          <a:p>
            <a:pPr algn="l">
              <a:lnSpc>
                <a:spcPts val="5040"/>
              </a:lnSpc>
            </a:pPr>
            <a:r>
              <a:rPr lang="en-US" b="true" sz="4200" spc="292">
                <a:solidFill>
                  <a:srgbClr val="000000"/>
                </a:solidFill>
                <a:latin typeface="Times New Roman Bold"/>
                <a:ea typeface="Times New Roman Bold"/>
                <a:cs typeface="Times New Roman Bold"/>
                <a:sym typeface="Times New Roman Bold"/>
              </a:rPr>
              <a:t>APPLICATIONS</a:t>
            </a:r>
          </a:p>
        </p:txBody>
      </p:sp>
      <p:sp>
        <p:nvSpPr>
          <p:cNvPr name="TextBox 3" id="3"/>
          <p:cNvSpPr txBox="true"/>
          <p:nvPr/>
        </p:nvSpPr>
        <p:spPr>
          <a:xfrm rot="0">
            <a:off x="616458" y="1708526"/>
            <a:ext cx="11171617" cy="6957006"/>
          </a:xfrm>
          <a:prstGeom prst="rect">
            <a:avLst/>
          </a:prstGeom>
        </p:spPr>
        <p:txBody>
          <a:bodyPr anchor="t" rtlCol="false" tIns="0" lIns="0" bIns="0" rIns="0">
            <a:spAutoFit/>
          </a:bodyPr>
          <a:lstStyle/>
          <a:p>
            <a:pPr algn="l" marL="678951" indent="-339475" lvl="1">
              <a:lnSpc>
                <a:spcPts val="4258"/>
              </a:lnSpc>
              <a:buFont typeface="Arial"/>
              <a:buChar char="•"/>
            </a:pPr>
            <a:r>
              <a:rPr lang="en-US" sz="3624">
                <a:solidFill>
                  <a:srgbClr val="000000"/>
                </a:solidFill>
                <a:latin typeface="Times New Roman"/>
                <a:ea typeface="Times New Roman"/>
                <a:cs typeface="Times New Roman"/>
                <a:sym typeface="Times New Roman"/>
              </a:rPr>
              <a:t>Grid-connected solar photovoltaic (PV) systems</a:t>
            </a:r>
          </a:p>
          <a:p>
            <a:pPr algn="l" marL="678951" indent="-339475" lvl="1">
              <a:lnSpc>
                <a:spcPts val="4159"/>
              </a:lnSpc>
              <a:buFont typeface="Arial"/>
              <a:buChar char="•"/>
            </a:pPr>
            <a:r>
              <a:rPr lang="en-US" sz="3624">
                <a:solidFill>
                  <a:srgbClr val="000000"/>
                </a:solidFill>
                <a:latin typeface="Times New Roman"/>
                <a:ea typeface="Times New Roman"/>
                <a:cs typeface="Times New Roman"/>
                <a:sym typeface="Times New Roman"/>
              </a:rPr>
              <a:t>Wind energy conversion systems</a:t>
            </a:r>
          </a:p>
          <a:p>
            <a:pPr algn="l" marL="678951" indent="-339475" lvl="1">
              <a:lnSpc>
                <a:spcPts val="4159"/>
              </a:lnSpc>
              <a:buFont typeface="Arial"/>
              <a:buChar char="•"/>
            </a:pPr>
            <a:r>
              <a:rPr lang="en-US" sz="3624">
                <a:solidFill>
                  <a:srgbClr val="000000"/>
                </a:solidFill>
                <a:latin typeface="Times New Roman"/>
                <a:ea typeface="Times New Roman"/>
                <a:cs typeface="Times New Roman"/>
                <a:sym typeface="Times New Roman"/>
              </a:rPr>
              <a:t>Hybrid renewable energy systems (solar + wind + battery)</a:t>
            </a:r>
          </a:p>
          <a:p>
            <a:pPr algn="l" marL="678951" indent="-339475" lvl="1">
              <a:lnSpc>
                <a:spcPts val="4177"/>
              </a:lnSpc>
              <a:buFont typeface="Arial"/>
              <a:buChar char="•"/>
            </a:pPr>
            <a:r>
              <a:rPr lang="en-US" sz="3624">
                <a:solidFill>
                  <a:srgbClr val="000000"/>
                </a:solidFill>
                <a:latin typeface="Times New Roman"/>
                <a:ea typeface="Times New Roman"/>
                <a:cs typeface="Times New Roman"/>
                <a:sym typeface="Times New Roman"/>
              </a:rPr>
              <a:t>Electric vehicle (EV) drive systems</a:t>
            </a:r>
          </a:p>
          <a:p>
            <a:pPr algn="l" marL="678951" indent="-339475" lvl="1">
              <a:lnSpc>
                <a:spcPts val="4177"/>
              </a:lnSpc>
              <a:buFont typeface="Arial"/>
              <a:buChar char="•"/>
            </a:pPr>
            <a:r>
              <a:rPr lang="en-US" sz="3624">
                <a:solidFill>
                  <a:srgbClr val="000000"/>
                </a:solidFill>
                <a:latin typeface="Times New Roman"/>
                <a:ea typeface="Times New Roman"/>
                <a:cs typeface="Times New Roman"/>
                <a:sym typeface="Times New Roman"/>
              </a:rPr>
              <a:t>Industrial motor drives</a:t>
            </a:r>
          </a:p>
          <a:p>
            <a:pPr algn="l" marL="678951" indent="-339475" lvl="1">
              <a:lnSpc>
                <a:spcPts val="4177"/>
              </a:lnSpc>
              <a:buFont typeface="Arial"/>
              <a:buChar char="•"/>
            </a:pPr>
            <a:r>
              <a:rPr lang="en-US" sz="3624">
                <a:solidFill>
                  <a:srgbClr val="000000"/>
                </a:solidFill>
                <a:latin typeface="Times New Roman"/>
                <a:ea typeface="Times New Roman"/>
                <a:cs typeface="Times New Roman"/>
                <a:sym typeface="Times New Roman"/>
              </a:rPr>
              <a:t>Uninterruptible Power Supply (UPS) systems</a:t>
            </a:r>
          </a:p>
          <a:p>
            <a:pPr algn="l" marL="678951" indent="-339475" lvl="1">
              <a:lnSpc>
                <a:spcPts val="4177"/>
              </a:lnSpc>
              <a:buFont typeface="Arial"/>
              <a:buChar char="•"/>
            </a:pPr>
            <a:r>
              <a:rPr lang="en-US" sz="3624">
                <a:solidFill>
                  <a:srgbClr val="000000"/>
                </a:solidFill>
                <a:latin typeface="Times New Roman"/>
                <a:ea typeface="Times New Roman"/>
                <a:cs typeface="Times New Roman"/>
                <a:sym typeface="Times New Roman"/>
              </a:rPr>
              <a:t>Power transmission and distribution systems</a:t>
            </a:r>
          </a:p>
          <a:p>
            <a:pPr algn="l" marL="678951" indent="-339475" lvl="1">
              <a:lnSpc>
                <a:spcPts val="4159"/>
              </a:lnSpc>
              <a:buFont typeface="Arial"/>
              <a:buChar char="•"/>
            </a:pPr>
            <a:r>
              <a:rPr lang="en-US" sz="3624" spc="-18">
                <a:solidFill>
                  <a:srgbClr val="000000"/>
                </a:solidFill>
                <a:latin typeface="Times New Roman"/>
                <a:ea typeface="Times New Roman"/>
                <a:cs typeface="Times New Roman"/>
                <a:sym typeface="Times New Roman"/>
              </a:rPr>
              <a:t>Smart grid applications</a:t>
            </a:r>
          </a:p>
          <a:p>
            <a:pPr algn="l" marL="678951" indent="-339475" lvl="1">
              <a:lnSpc>
                <a:spcPts val="4159"/>
              </a:lnSpc>
              <a:buFont typeface="Arial"/>
              <a:buChar char="•"/>
            </a:pPr>
            <a:r>
              <a:rPr lang="en-US" sz="3624" spc="-18">
                <a:solidFill>
                  <a:srgbClr val="000000"/>
                </a:solidFill>
                <a:latin typeface="Times New Roman"/>
                <a:ea typeface="Times New Roman"/>
                <a:cs typeface="Times New Roman"/>
                <a:sym typeface="Times New Roman"/>
              </a:rPr>
              <a:t>Microgrid systems</a:t>
            </a:r>
          </a:p>
          <a:p>
            <a:pPr algn="l" marL="678951" indent="-339475" lvl="1">
              <a:lnSpc>
                <a:spcPts val="4177"/>
              </a:lnSpc>
              <a:buFont typeface="Arial"/>
              <a:buChar char="•"/>
            </a:pPr>
            <a:r>
              <a:rPr lang="en-US" sz="3624" spc="-18">
                <a:solidFill>
                  <a:srgbClr val="000000"/>
                </a:solidFill>
                <a:latin typeface="Times New Roman"/>
                <a:ea typeface="Times New Roman"/>
                <a:cs typeface="Times New Roman"/>
                <a:sym typeface="Times New Roman"/>
              </a:rPr>
              <a:t>Battery Energy Storage Systems (BESS)</a:t>
            </a:r>
          </a:p>
          <a:p>
            <a:pPr algn="l" marL="678951" indent="-339475" lvl="1">
              <a:lnSpc>
                <a:spcPts val="4177"/>
              </a:lnSpc>
              <a:buFont typeface="Arial"/>
              <a:buChar char="•"/>
            </a:pPr>
            <a:r>
              <a:rPr lang="en-US" sz="3624" spc="-18">
                <a:solidFill>
                  <a:srgbClr val="000000"/>
                </a:solidFill>
                <a:latin typeface="Times New Roman"/>
                <a:ea typeface="Times New Roman"/>
                <a:cs typeface="Times New Roman"/>
                <a:sym typeface="Times New Roman"/>
              </a:rPr>
              <a:t>Flexible AC Transmission Systems (FACTS)</a:t>
            </a:r>
          </a:p>
          <a:p>
            <a:pPr algn="l" marL="678951" indent="-339475" lvl="1">
              <a:lnSpc>
                <a:spcPts val="4177"/>
              </a:lnSpc>
              <a:buFont typeface="Arial"/>
              <a:buChar char="•"/>
            </a:pPr>
            <a:r>
              <a:rPr lang="en-US" sz="3624" spc="-18">
                <a:solidFill>
                  <a:srgbClr val="000000"/>
                </a:solidFill>
                <a:latin typeface="Times New Roman"/>
                <a:ea typeface="Times New Roman"/>
                <a:cs typeface="Times New Roman"/>
                <a:sym typeface="Times New Roman"/>
              </a:rPr>
              <a:t>High Voltage DC (HVDC) transmission</a:t>
            </a:r>
          </a:p>
          <a:p>
            <a:pPr algn="l" marL="678951" indent="-339475" lvl="1">
              <a:lnSpc>
                <a:spcPts val="4258"/>
              </a:lnSpc>
              <a:buFont typeface="Arial"/>
              <a:buChar char="•"/>
            </a:pPr>
            <a:r>
              <a:rPr lang="en-US" sz="3624" spc="-18">
                <a:solidFill>
                  <a:srgbClr val="000000"/>
                </a:solidFill>
                <a:latin typeface="Times New Roman"/>
                <a:ea typeface="Times New Roman"/>
                <a:cs typeface="Times New Roman"/>
                <a:sym typeface="Times New Roman"/>
              </a:rPr>
              <a:t>Railway electrification systems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14679" y="1146800"/>
            <a:ext cx="4099560" cy="686114"/>
          </a:xfrm>
          <a:prstGeom prst="rect">
            <a:avLst/>
          </a:prstGeom>
        </p:spPr>
        <p:txBody>
          <a:bodyPr anchor="t" rtlCol="false" tIns="0" lIns="0" bIns="0" rIns="0">
            <a:spAutoFit/>
          </a:bodyPr>
          <a:lstStyle/>
          <a:p>
            <a:pPr algn="l">
              <a:lnSpc>
                <a:spcPts val="5040"/>
              </a:lnSpc>
            </a:pPr>
            <a:r>
              <a:rPr lang="en-US" b="true" sz="4200" spc="225">
                <a:solidFill>
                  <a:srgbClr val="000000"/>
                </a:solidFill>
                <a:latin typeface="Times New Roman Bold"/>
                <a:ea typeface="Times New Roman Bold"/>
                <a:cs typeface="Times New Roman Bold"/>
                <a:sym typeface="Times New Roman Bold"/>
              </a:rPr>
              <a:t>ADVANTAGES</a:t>
            </a:r>
          </a:p>
        </p:txBody>
      </p:sp>
      <p:sp>
        <p:nvSpPr>
          <p:cNvPr name="TextBox 3" id="3"/>
          <p:cNvSpPr txBox="true"/>
          <p:nvPr/>
        </p:nvSpPr>
        <p:spPr>
          <a:xfrm rot="0">
            <a:off x="557022" y="2452306"/>
            <a:ext cx="15202691" cy="6805994"/>
          </a:xfrm>
          <a:prstGeom prst="rect">
            <a:avLst/>
          </a:prstGeom>
        </p:spPr>
        <p:txBody>
          <a:bodyPr anchor="t" rtlCol="false" tIns="0" lIns="0" bIns="0" rIns="0">
            <a:spAutoFit/>
          </a:bodyPr>
          <a:lstStyle/>
          <a:p>
            <a:pPr algn="l" marL="788271" indent="-394136" lvl="1">
              <a:lnSpc>
                <a:spcPts val="4317"/>
              </a:lnSpc>
              <a:buAutoNum type="arabicPeriod" startAt="1"/>
            </a:pPr>
            <a:r>
              <a:rPr lang="en-US" b="true" sz="3598">
                <a:solidFill>
                  <a:srgbClr val="000000"/>
                </a:solidFill>
                <a:latin typeface="Times New Roman Bold"/>
                <a:ea typeface="Times New Roman Bold"/>
                <a:cs typeface="Times New Roman Bold"/>
                <a:sym typeface="Times New Roman Bold"/>
              </a:rPr>
              <a:t>High-Quality Output Voltage</a:t>
            </a:r>
          </a:p>
          <a:p>
            <a:pPr algn="l" marL="615765" indent="-205255" lvl="2">
              <a:lnSpc>
                <a:spcPts val="2977"/>
              </a:lnSpc>
              <a:buFont typeface="Arial"/>
              <a:buChar char="⚬"/>
            </a:pPr>
            <a:r>
              <a:rPr lang="en-US" sz="2518">
                <a:solidFill>
                  <a:srgbClr val="000000"/>
                </a:solidFill>
                <a:latin typeface="Times New Roman"/>
                <a:ea typeface="Times New Roman"/>
                <a:cs typeface="Times New Roman"/>
                <a:sym typeface="Times New Roman"/>
              </a:rPr>
              <a:t>Produces a </a:t>
            </a:r>
            <a:r>
              <a:rPr lang="en-US" b="true" sz="2518">
                <a:solidFill>
                  <a:srgbClr val="000000"/>
                </a:solidFill>
                <a:latin typeface="Times New Roman Bold"/>
                <a:ea typeface="Times New Roman Bold"/>
                <a:cs typeface="Times New Roman Bold"/>
                <a:sym typeface="Times New Roman Bold"/>
              </a:rPr>
              <a:t>near-sinusoidal waveform </a:t>
            </a:r>
            <a:r>
              <a:rPr lang="en-US" sz="2518">
                <a:solidFill>
                  <a:srgbClr val="000000"/>
                </a:solidFill>
                <a:latin typeface="Times New Roman"/>
                <a:ea typeface="Times New Roman"/>
                <a:cs typeface="Times New Roman"/>
                <a:sym typeface="Times New Roman"/>
              </a:rPr>
              <a:t>with 21 voltage levels</a:t>
            </a:r>
          </a:p>
          <a:p>
            <a:pPr algn="l" marL="615765" indent="-205255" lvl="2">
              <a:lnSpc>
                <a:spcPts val="2896"/>
              </a:lnSpc>
              <a:buFont typeface="Arial"/>
              <a:buChar char="⚬"/>
            </a:pPr>
            <a:r>
              <a:rPr lang="en-US" b="true" sz="2518">
                <a:solidFill>
                  <a:srgbClr val="000000"/>
                </a:solidFill>
                <a:latin typeface="Times New Roman Bold"/>
                <a:ea typeface="Times New Roman Bold"/>
                <a:cs typeface="Times New Roman Bold"/>
                <a:sym typeface="Times New Roman Bold"/>
              </a:rPr>
              <a:t>Reduces Total Harmonic Distortion (THD)</a:t>
            </a:r>
          </a:p>
          <a:p>
            <a:pPr algn="l" marL="615765" indent="-205255" lvl="2">
              <a:lnSpc>
                <a:spcPts val="2932"/>
              </a:lnSpc>
              <a:buFont typeface="Arial"/>
              <a:buChar char="⚬"/>
            </a:pPr>
            <a:r>
              <a:rPr lang="en-US" sz="2518">
                <a:solidFill>
                  <a:srgbClr val="000000"/>
                </a:solidFill>
                <a:latin typeface="Times New Roman"/>
                <a:ea typeface="Times New Roman"/>
                <a:cs typeface="Times New Roman"/>
                <a:sym typeface="Times New Roman"/>
              </a:rPr>
              <a:t>Minimizes need for bulky filters</a:t>
            </a:r>
          </a:p>
          <a:p>
            <a:pPr algn="l" marL="864813" indent="-432407" lvl="1">
              <a:lnSpc>
                <a:spcPts val="4749"/>
              </a:lnSpc>
              <a:buAutoNum type="arabicPeriod" startAt="1"/>
            </a:pPr>
            <a:r>
              <a:rPr lang="en-US" b="true" sz="3957">
                <a:solidFill>
                  <a:srgbClr val="000000"/>
                </a:solidFill>
                <a:latin typeface="Times New Roman Bold"/>
                <a:ea typeface="Times New Roman Bold"/>
                <a:cs typeface="Times New Roman Bold"/>
                <a:sym typeface="Times New Roman Bold"/>
              </a:rPr>
              <a:t>Reduced Switch Count</a:t>
            </a:r>
          </a:p>
          <a:p>
            <a:pPr algn="l" marL="522087" indent="-174029" lvl="2">
              <a:lnSpc>
                <a:spcPts val="2977"/>
              </a:lnSpc>
              <a:buFont typeface="Arial"/>
              <a:buChar char="⚬"/>
            </a:pPr>
            <a:r>
              <a:rPr lang="en-US" sz="2518">
                <a:solidFill>
                  <a:srgbClr val="000000"/>
                </a:solidFill>
                <a:latin typeface="Times New Roman"/>
                <a:ea typeface="Times New Roman"/>
                <a:cs typeface="Times New Roman"/>
                <a:sym typeface="Times New Roman"/>
              </a:rPr>
              <a:t>Uses fewer power electronic switches compared to conventional designs</a:t>
            </a:r>
          </a:p>
          <a:p>
            <a:pPr algn="l" marL="522087" indent="-174029" lvl="2">
              <a:lnSpc>
                <a:spcPts val="2914"/>
              </a:lnSpc>
              <a:buFont typeface="Arial"/>
              <a:buChar char="⚬"/>
            </a:pPr>
            <a:r>
              <a:rPr lang="en-US" b="true" sz="2518">
                <a:solidFill>
                  <a:srgbClr val="000000"/>
                </a:solidFill>
                <a:latin typeface="Times New Roman Bold"/>
                <a:ea typeface="Times New Roman Bold"/>
                <a:cs typeface="Times New Roman Bold"/>
                <a:sym typeface="Times New Roman Bold"/>
              </a:rPr>
              <a:t>Lower cost </a:t>
            </a:r>
            <a:r>
              <a:rPr lang="en-US" sz="2518">
                <a:solidFill>
                  <a:srgbClr val="000000"/>
                </a:solidFill>
                <a:latin typeface="Times New Roman"/>
                <a:ea typeface="Times New Roman"/>
                <a:cs typeface="Times New Roman"/>
                <a:sym typeface="Times New Roman"/>
              </a:rPr>
              <a:t>and </a:t>
            </a:r>
            <a:r>
              <a:rPr lang="en-US" b="true" sz="2518">
                <a:solidFill>
                  <a:srgbClr val="000000"/>
                </a:solidFill>
                <a:latin typeface="Times New Roman Bold"/>
                <a:ea typeface="Times New Roman Bold"/>
                <a:cs typeface="Times New Roman Bold"/>
                <a:sym typeface="Times New Roman Bold"/>
              </a:rPr>
              <a:t>simpler circuit design</a:t>
            </a:r>
          </a:p>
          <a:p>
            <a:pPr algn="l" marL="522087" indent="-174029" lvl="2">
              <a:lnSpc>
                <a:spcPts val="2959"/>
              </a:lnSpc>
              <a:buFont typeface="Arial"/>
              <a:buChar char="⚬"/>
            </a:pPr>
            <a:r>
              <a:rPr lang="en-US" sz="2518">
                <a:solidFill>
                  <a:srgbClr val="000000"/>
                </a:solidFill>
                <a:latin typeface="Times New Roman"/>
                <a:ea typeface="Times New Roman"/>
                <a:cs typeface="Times New Roman"/>
                <a:sym typeface="Times New Roman"/>
              </a:rPr>
              <a:t>Reduces switching losses and complexity</a:t>
            </a:r>
          </a:p>
          <a:p>
            <a:pPr algn="l" marL="864813" indent="-432407" lvl="1">
              <a:lnSpc>
                <a:spcPts val="4749"/>
              </a:lnSpc>
              <a:buAutoNum type="arabicPeriod" startAt="1"/>
            </a:pPr>
            <a:r>
              <a:rPr lang="en-US" b="true" sz="3957" spc="-17">
                <a:solidFill>
                  <a:srgbClr val="000000"/>
                </a:solidFill>
                <a:latin typeface="Times New Roman Bold"/>
                <a:ea typeface="Times New Roman Bold"/>
                <a:cs typeface="Times New Roman Bold"/>
                <a:sym typeface="Times New Roman Bold"/>
              </a:rPr>
              <a:t>Improved Efficiency</a:t>
            </a:r>
          </a:p>
          <a:p>
            <a:pPr algn="l" marL="522087" indent="-174029" lvl="2">
              <a:lnSpc>
                <a:spcPts val="2959"/>
              </a:lnSpc>
              <a:buFont typeface="Arial"/>
              <a:buChar char="⚬"/>
            </a:pPr>
            <a:r>
              <a:rPr lang="en-US" sz="2518" spc="-11">
                <a:solidFill>
                  <a:srgbClr val="000000"/>
                </a:solidFill>
                <a:latin typeface="Times New Roman"/>
                <a:ea typeface="Times New Roman"/>
                <a:cs typeface="Times New Roman"/>
                <a:sym typeface="Times New Roman"/>
              </a:rPr>
              <a:t>Lower switching losses → </a:t>
            </a:r>
            <a:r>
              <a:rPr lang="en-US" b="true" sz="2518" spc="-11">
                <a:solidFill>
                  <a:srgbClr val="000000"/>
                </a:solidFill>
                <a:latin typeface="Times New Roman Bold"/>
                <a:ea typeface="Times New Roman Bold"/>
                <a:cs typeface="Times New Roman Bold"/>
                <a:sym typeface="Times New Roman Bold"/>
              </a:rPr>
              <a:t>higher overall efficiency</a:t>
            </a:r>
          </a:p>
          <a:p>
            <a:pPr algn="l" marL="522087" indent="-174029" lvl="2">
              <a:lnSpc>
                <a:spcPts val="2959"/>
              </a:lnSpc>
              <a:buFont typeface="Arial"/>
              <a:buChar char="⚬"/>
            </a:pPr>
            <a:r>
              <a:rPr lang="en-US" sz="2518" spc="-11">
                <a:solidFill>
                  <a:srgbClr val="000000"/>
                </a:solidFill>
                <a:latin typeface="Times New Roman"/>
                <a:ea typeface="Times New Roman"/>
                <a:cs typeface="Times New Roman"/>
                <a:sym typeface="Times New Roman"/>
              </a:rPr>
              <a:t>Suitable for </a:t>
            </a:r>
            <a:r>
              <a:rPr lang="en-US" b="true" sz="2518" spc="-11">
                <a:solidFill>
                  <a:srgbClr val="000000"/>
                </a:solidFill>
                <a:latin typeface="Times New Roman Bold"/>
                <a:ea typeface="Times New Roman Bold"/>
                <a:cs typeface="Times New Roman Bold"/>
                <a:sym typeface="Times New Roman Bold"/>
              </a:rPr>
              <a:t>solar systems where efficiency is critical</a:t>
            </a:r>
          </a:p>
          <a:p>
            <a:pPr algn="l" marL="522087" indent="-174029" lvl="2">
              <a:lnSpc>
                <a:spcPts val="3022"/>
              </a:lnSpc>
            </a:pPr>
          </a:p>
          <a:p>
            <a:pPr algn="l" marL="739147" indent="-369574" lvl="1">
              <a:lnSpc>
                <a:spcPts val="4749"/>
              </a:lnSpc>
              <a:buAutoNum type="arabicPeriod" startAt="1"/>
            </a:pPr>
            <a:r>
              <a:rPr lang="en-US" b="true" sz="3957" spc="-17">
                <a:solidFill>
                  <a:srgbClr val="000000"/>
                </a:solidFill>
                <a:latin typeface="Times New Roman Bold"/>
                <a:ea typeface="Times New Roman Bold"/>
                <a:cs typeface="Times New Roman Bold"/>
                <a:sym typeface="Times New Roman Bold"/>
              </a:rPr>
              <a:t>Better Utilization of DC Sources</a:t>
            </a:r>
          </a:p>
          <a:p>
            <a:pPr algn="l" marL="522087" indent="-174029" lvl="2">
              <a:lnSpc>
                <a:spcPts val="2977"/>
              </a:lnSpc>
              <a:buFont typeface="Arial"/>
              <a:buChar char="⚬"/>
            </a:pPr>
            <a:r>
              <a:rPr lang="en-US" sz="2518" spc="-11">
                <a:solidFill>
                  <a:srgbClr val="000000"/>
                </a:solidFill>
                <a:latin typeface="Times New Roman"/>
                <a:ea typeface="Times New Roman"/>
                <a:cs typeface="Times New Roman"/>
                <a:sym typeface="Times New Roman"/>
              </a:rPr>
              <a:t>Asymmetric configuration uses </a:t>
            </a:r>
            <a:r>
              <a:rPr lang="en-US" b="true" sz="2518" spc="-11">
                <a:solidFill>
                  <a:srgbClr val="000000"/>
                </a:solidFill>
                <a:latin typeface="Times New Roman Bold"/>
                <a:ea typeface="Times New Roman Bold"/>
                <a:cs typeface="Times New Roman Bold"/>
                <a:sym typeface="Times New Roman Bold"/>
              </a:rPr>
              <a:t>different DC voltage levels</a:t>
            </a:r>
          </a:p>
          <a:p>
            <a:pPr algn="l" marL="522087" indent="-174029" lvl="2">
              <a:lnSpc>
                <a:spcPts val="2941"/>
              </a:lnSpc>
              <a:buFont typeface="Arial"/>
              <a:buChar char="⚬"/>
            </a:pPr>
            <a:r>
              <a:rPr lang="en-US" sz="2518" spc="-11">
                <a:solidFill>
                  <a:srgbClr val="000000"/>
                </a:solidFill>
                <a:latin typeface="Times New Roman"/>
                <a:ea typeface="Times New Roman"/>
                <a:cs typeface="Times New Roman"/>
                <a:sym typeface="Times New Roman"/>
              </a:rPr>
              <a:t>Achieves more output levels with fewer components</a:t>
            </a:r>
          </a:p>
          <a:p>
            <a:pPr algn="l" marL="522087" indent="-174029" lvl="2">
              <a:lnSpc>
                <a:spcPts val="2977"/>
              </a:lnSpc>
              <a:buFont typeface="Arial"/>
              <a:buChar char="⚬"/>
            </a:pPr>
            <a:r>
              <a:rPr lang="en-US" b="true" sz="2518" spc="-11">
                <a:solidFill>
                  <a:srgbClr val="000000"/>
                </a:solidFill>
                <a:latin typeface="Times New Roman Bold"/>
                <a:ea typeface="Times New Roman Bold"/>
                <a:cs typeface="Times New Roman Bold"/>
                <a:sym typeface="Times New Roman Bold"/>
              </a:rPr>
              <a:t>Efficient use of solar panel outputs</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47116" y="1009650"/>
            <a:ext cx="17740884" cy="952814"/>
          </a:xfrm>
          <a:prstGeom prst="rect">
            <a:avLst/>
          </a:prstGeom>
        </p:spPr>
        <p:txBody>
          <a:bodyPr anchor="t" rtlCol="false" tIns="0" lIns="0" bIns="0" rIns="0">
            <a:spAutoFit/>
          </a:bodyPr>
          <a:lstStyle/>
          <a:p>
            <a:pPr algn="l">
              <a:lnSpc>
                <a:spcPts val="5040"/>
              </a:lnSpc>
            </a:pPr>
            <a:r>
              <a:rPr lang="en-US" b="true" sz="4200" spc="262">
                <a:solidFill>
                  <a:srgbClr val="000000"/>
                </a:solidFill>
                <a:latin typeface="Times New Roman Bold"/>
                <a:ea typeface="Times New Roman Bold"/>
                <a:cs typeface="Times New Roman Bold"/>
                <a:sym typeface="Times New Roman Bold"/>
              </a:rPr>
              <a:t>DISADVANTAGES</a:t>
            </a:r>
          </a:p>
        </p:txBody>
      </p:sp>
      <p:sp>
        <p:nvSpPr>
          <p:cNvPr name="TextBox 3" id="3"/>
          <p:cNvSpPr txBox="true"/>
          <p:nvPr/>
        </p:nvSpPr>
        <p:spPr>
          <a:xfrm rot="0">
            <a:off x="326044" y="2475918"/>
            <a:ext cx="10134449" cy="8495787"/>
          </a:xfrm>
          <a:prstGeom prst="rect">
            <a:avLst/>
          </a:prstGeom>
        </p:spPr>
        <p:txBody>
          <a:bodyPr anchor="t" rtlCol="false" tIns="0" lIns="0" bIns="0" rIns="0">
            <a:spAutoFit/>
          </a:bodyPr>
          <a:lstStyle/>
          <a:p>
            <a:pPr algn="l" marL="664984" indent="-332492" lvl="1">
              <a:lnSpc>
                <a:spcPts val="4243"/>
              </a:lnSpc>
              <a:buAutoNum type="arabicPeriod" startAt="1"/>
            </a:pPr>
            <a:r>
              <a:rPr lang="en-US" b="true" sz="3536">
                <a:solidFill>
                  <a:srgbClr val="000000"/>
                </a:solidFill>
                <a:latin typeface="Times New Roman Bold"/>
                <a:ea typeface="Times New Roman Bold"/>
                <a:cs typeface="Times New Roman Bold"/>
                <a:sym typeface="Times New Roman Bold"/>
              </a:rPr>
              <a:t>Voltage Balancing Issue</a:t>
            </a:r>
          </a:p>
          <a:p>
            <a:pPr algn="l" marL="570164" indent="-190055" lvl="2">
              <a:lnSpc>
                <a:spcPts val="3251"/>
              </a:lnSpc>
              <a:buFont typeface="Arial"/>
              <a:buChar char="⚬"/>
            </a:pPr>
            <a:r>
              <a:rPr lang="en-US" sz="2750">
                <a:solidFill>
                  <a:srgbClr val="000000"/>
                </a:solidFill>
                <a:latin typeface="Times New Roman"/>
                <a:ea typeface="Times New Roman"/>
                <a:cs typeface="Times New Roman"/>
                <a:sym typeface="Times New Roman"/>
              </a:rPr>
              <a:t>In asymmetric configuration, different DC sources are used</a:t>
            </a:r>
          </a:p>
          <a:p>
            <a:pPr algn="l" marL="570164" indent="-190055" lvl="2">
              <a:lnSpc>
                <a:spcPts val="3251"/>
              </a:lnSpc>
              <a:buFont typeface="Arial"/>
              <a:buChar char="⚬"/>
            </a:pPr>
            <a:r>
              <a:rPr lang="en-US" sz="2750">
                <a:solidFill>
                  <a:srgbClr val="000000"/>
                </a:solidFill>
                <a:latin typeface="Times New Roman"/>
                <a:ea typeface="Times New Roman"/>
                <a:cs typeface="Times New Roman"/>
                <a:sym typeface="Times New Roman"/>
              </a:rPr>
              <a:t>Maintaining </a:t>
            </a:r>
            <a:r>
              <a:rPr lang="en-US" b="true" sz="2750">
                <a:solidFill>
                  <a:srgbClr val="000000"/>
                </a:solidFill>
                <a:latin typeface="Times New Roman Bold"/>
                <a:ea typeface="Times New Roman Bold"/>
                <a:cs typeface="Times New Roman Bold"/>
                <a:sym typeface="Times New Roman Bold"/>
              </a:rPr>
              <a:t>proper voltage balance </a:t>
            </a:r>
            <a:r>
              <a:rPr lang="en-US" sz="2750">
                <a:solidFill>
                  <a:srgbClr val="000000"/>
                </a:solidFill>
                <a:latin typeface="Times New Roman"/>
                <a:ea typeface="Times New Roman"/>
                <a:cs typeface="Times New Roman"/>
                <a:sym typeface="Times New Roman"/>
              </a:rPr>
              <a:t>across sources is challenging</a:t>
            </a:r>
          </a:p>
          <a:p>
            <a:pPr algn="l" marL="664984" indent="-332492" lvl="1">
              <a:lnSpc>
                <a:spcPts val="4243"/>
              </a:lnSpc>
              <a:buAutoNum type="arabicPeriod" startAt="1"/>
            </a:pPr>
            <a:r>
              <a:rPr lang="en-US" b="true" sz="3536">
                <a:solidFill>
                  <a:srgbClr val="000000"/>
                </a:solidFill>
                <a:latin typeface="Times New Roman Bold"/>
                <a:ea typeface="Times New Roman Bold"/>
                <a:cs typeface="Times New Roman Bold"/>
                <a:sym typeface="Times New Roman Bold"/>
              </a:rPr>
              <a:t>High Initial Design Complexity</a:t>
            </a:r>
          </a:p>
          <a:p>
            <a:pPr algn="l" marL="570164" indent="-190055" lvl="2">
              <a:lnSpc>
                <a:spcPts val="3251"/>
              </a:lnSpc>
              <a:buFont typeface="Arial"/>
              <a:buChar char="⚬"/>
            </a:pPr>
            <a:r>
              <a:rPr lang="en-US" sz="2750">
                <a:solidFill>
                  <a:srgbClr val="000000"/>
                </a:solidFill>
                <a:latin typeface="Times New Roman"/>
                <a:ea typeface="Times New Roman"/>
                <a:cs typeface="Times New Roman"/>
                <a:sym typeface="Times New Roman"/>
              </a:rPr>
              <a:t>Even with reduced switches, overall system design is still complex</a:t>
            </a:r>
          </a:p>
          <a:p>
            <a:pPr algn="l" marL="570164" indent="-190055" lvl="2">
              <a:lnSpc>
                <a:spcPts val="3251"/>
              </a:lnSpc>
              <a:buFont typeface="Arial"/>
              <a:buChar char="⚬"/>
            </a:pPr>
            <a:r>
              <a:rPr lang="en-US" sz="2750">
                <a:solidFill>
                  <a:srgbClr val="000000"/>
                </a:solidFill>
                <a:latin typeface="Times New Roman"/>
                <a:ea typeface="Times New Roman"/>
                <a:cs typeface="Times New Roman"/>
                <a:sym typeface="Times New Roman"/>
              </a:rPr>
              <a:t>Needs careful selection of switching angles and modulation methods</a:t>
            </a:r>
          </a:p>
          <a:p>
            <a:pPr algn="l" marL="570164" indent="-190055" lvl="2">
              <a:lnSpc>
                <a:spcPts val="3300"/>
              </a:lnSpc>
            </a:pPr>
          </a:p>
          <a:p>
            <a:pPr algn="l" marL="664984" indent="-332492" lvl="1">
              <a:lnSpc>
                <a:spcPts val="4243"/>
              </a:lnSpc>
              <a:buAutoNum type="arabicPeriod" startAt="1"/>
            </a:pPr>
            <a:r>
              <a:rPr lang="en-US" b="true" sz="3536" spc="-19">
                <a:solidFill>
                  <a:srgbClr val="000000"/>
                </a:solidFill>
                <a:latin typeface="Times New Roman Bold"/>
                <a:ea typeface="Times New Roman Bold"/>
                <a:cs typeface="Times New Roman Bold"/>
                <a:sym typeface="Times New Roman Bold"/>
              </a:rPr>
              <a:t>Requirement of Multiple DC Sources</a:t>
            </a:r>
          </a:p>
          <a:p>
            <a:pPr algn="l" marL="570164" indent="-190055" lvl="2">
              <a:lnSpc>
                <a:spcPts val="3232"/>
              </a:lnSpc>
              <a:buFont typeface="Arial"/>
              <a:buChar char="⚬"/>
            </a:pPr>
            <a:r>
              <a:rPr lang="en-US" sz="2750" spc="-15">
                <a:solidFill>
                  <a:srgbClr val="000000"/>
                </a:solidFill>
                <a:latin typeface="Times New Roman"/>
                <a:ea typeface="Times New Roman"/>
                <a:cs typeface="Times New Roman"/>
                <a:sym typeface="Times New Roman"/>
              </a:rPr>
              <a:t>Needs multiple isolated DC sources (solar panels or batteries)</a:t>
            </a:r>
          </a:p>
          <a:p>
            <a:pPr algn="l" marL="570164" indent="-190055" lvl="2">
              <a:lnSpc>
                <a:spcPts val="3232"/>
              </a:lnSpc>
              <a:buFont typeface="Arial"/>
              <a:buChar char="⚬"/>
            </a:pPr>
            <a:r>
              <a:rPr lang="en-US" sz="2750" spc="-15">
                <a:solidFill>
                  <a:srgbClr val="000000"/>
                </a:solidFill>
                <a:latin typeface="Times New Roman"/>
                <a:ea typeface="Times New Roman"/>
                <a:cs typeface="Times New Roman"/>
                <a:sym typeface="Times New Roman"/>
              </a:rPr>
              <a:t>Increases system setup difficulty</a:t>
            </a:r>
          </a:p>
          <a:p>
            <a:pPr algn="l" marL="570164" indent="-190055" lvl="2">
              <a:lnSpc>
                <a:spcPts val="3300"/>
              </a:lnSpc>
            </a:pPr>
          </a:p>
          <a:p>
            <a:pPr algn="l" marL="664984" indent="-332492" lvl="1">
              <a:lnSpc>
                <a:spcPts val="4243"/>
              </a:lnSpc>
              <a:buAutoNum type="arabicPeriod" startAt="1"/>
            </a:pPr>
            <a:r>
              <a:rPr lang="en-US" b="true" sz="3536" spc="-19">
                <a:solidFill>
                  <a:srgbClr val="000000"/>
                </a:solidFill>
                <a:latin typeface="Times New Roman Bold"/>
                <a:ea typeface="Times New Roman Bold"/>
                <a:cs typeface="Times New Roman Bold"/>
                <a:sym typeface="Times New Roman Bold"/>
              </a:rPr>
              <a:t>Control Circuit Cost</a:t>
            </a:r>
          </a:p>
          <a:p>
            <a:pPr algn="l" marL="570164" indent="-190055" lvl="2">
              <a:lnSpc>
                <a:spcPts val="3251"/>
              </a:lnSpc>
              <a:buFont typeface="Arial"/>
              <a:buChar char="⚬"/>
            </a:pPr>
            <a:r>
              <a:rPr lang="en-US" sz="2750" spc="-19">
                <a:solidFill>
                  <a:srgbClr val="000000"/>
                </a:solidFill>
                <a:latin typeface="Times New Roman"/>
                <a:ea typeface="Times New Roman"/>
                <a:cs typeface="Times New Roman"/>
                <a:sym typeface="Times New Roman"/>
              </a:rPr>
              <a:t>Requires </a:t>
            </a:r>
            <a:r>
              <a:rPr lang="en-US" b="true" sz="2750" spc="-19">
                <a:solidFill>
                  <a:srgbClr val="000000"/>
                </a:solidFill>
                <a:latin typeface="Times New Roman Bold"/>
                <a:ea typeface="Times New Roman Bold"/>
                <a:cs typeface="Times New Roman Bold"/>
                <a:sym typeface="Times New Roman Bold"/>
              </a:rPr>
              <a:t>microcontroller/DSP/FPGA </a:t>
            </a:r>
            <a:r>
              <a:rPr lang="en-US" sz="2750" spc="-19">
                <a:solidFill>
                  <a:srgbClr val="000000"/>
                </a:solidFill>
                <a:latin typeface="Times New Roman"/>
                <a:ea typeface="Times New Roman"/>
                <a:cs typeface="Times New Roman"/>
                <a:sym typeface="Times New Roman"/>
              </a:rPr>
              <a:t>for precise switching</a:t>
            </a:r>
          </a:p>
          <a:p>
            <a:pPr algn="l" marL="570164" indent="-190055" lvl="2">
              <a:lnSpc>
                <a:spcPts val="3251"/>
              </a:lnSpc>
              <a:buFont typeface="Arial"/>
              <a:buChar char="⚬"/>
            </a:pPr>
            <a:r>
              <a:rPr lang="en-US" sz="2750" spc="-19">
                <a:solidFill>
                  <a:srgbClr val="000000"/>
                </a:solidFill>
                <a:latin typeface="Times New Roman"/>
                <a:ea typeface="Times New Roman"/>
                <a:cs typeface="Times New Roman"/>
                <a:sym typeface="Times New Roman"/>
              </a:rPr>
              <a:t>Adds to control system cost and complexity</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73558" y="1630337"/>
            <a:ext cx="17740884" cy="600075"/>
          </a:xfrm>
          <a:prstGeom prst="rect">
            <a:avLst/>
          </a:prstGeom>
        </p:spPr>
        <p:txBody>
          <a:bodyPr anchor="t" rtlCol="false" tIns="0" lIns="0" bIns="0" rIns="0">
            <a:spAutoFit/>
          </a:bodyPr>
          <a:lstStyle/>
          <a:p>
            <a:pPr algn="l">
              <a:lnSpc>
                <a:spcPts val="4559"/>
              </a:lnSpc>
            </a:pPr>
            <a:r>
              <a:rPr lang="en-US" b="true" sz="3799" spc="-18">
                <a:solidFill>
                  <a:srgbClr val="000000"/>
                </a:solidFill>
                <a:latin typeface="Times New Roman Bold"/>
                <a:ea typeface="Times New Roman Bold"/>
                <a:cs typeface="Times New Roman Bold"/>
                <a:sym typeface="Times New Roman Bold"/>
              </a:rPr>
              <a:t>CONCLUSION:</a:t>
            </a:r>
          </a:p>
        </p:txBody>
      </p:sp>
      <p:sp>
        <p:nvSpPr>
          <p:cNvPr name="TextBox 3" id="3"/>
          <p:cNvSpPr txBox="true"/>
          <p:nvPr/>
        </p:nvSpPr>
        <p:spPr>
          <a:xfrm rot="0">
            <a:off x="273558" y="2694665"/>
            <a:ext cx="15668255" cy="5831898"/>
          </a:xfrm>
          <a:prstGeom prst="rect">
            <a:avLst/>
          </a:prstGeom>
        </p:spPr>
        <p:txBody>
          <a:bodyPr anchor="t" rtlCol="false" tIns="0" lIns="0" bIns="0" rIns="0">
            <a:spAutoFit/>
          </a:bodyPr>
          <a:lstStyle/>
          <a:p>
            <a:pPr algn="l">
              <a:lnSpc>
                <a:spcPts val="4163"/>
              </a:lnSpc>
            </a:pPr>
            <a:r>
              <a:rPr lang="en-US" sz="3585">
                <a:solidFill>
                  <a:srgbClr val="000000"/>
                </a:solidFill>
                <a:latin typeface="Times New Roman"/>
                <a:ea typeface="Times New Roman"/>
                <a:cs typeface="Times New Roman"/>
                <a:sym typeface="Times New Roman"/>
              </a:rPr>
              <a:t>A nov</a:t>
            </a:r>
            <a:r>
              <a:rPr lang="en-US" sz="3585">
                <a:solidFill>
                  <a:srgbClr val="000000"/>
                </a:solidFill>
                <a:latin typeface="Times New Roman"/>
                <a:ea typeface="Times New Roman"/>
                <a:cs typeface="Times New Roman"/>
                <a:sym typeface="Times New Roman"/>
              </a:rPr>
              <a:t>el MLI topology with a </a:t>
            </a:r>
            <a:r>
              <a:rPr lang="en-US" sz="3585">
                <a:solidFill>
                  <a:srgbClr val="000000"/>
                </a:solidFill>
                <a:latin typeface="Times New Roman"/>
                <a:ea typeface="Times New Roman"/>
                <a:cs typeface="Times New Roman"/>
                <a:sym typeface="Times New Roman"/>
              </a:rPr>
              <a:t>21-level </a:t>
            </a:r>
            <a:r>
              <a:rPr lang="en-US" sz="3585">
                <a:solidFill>
                  <a:srgbClr val="000000"/>
                </a:solidFill>
                <a:latin typeface="Times New Roman"/>
                <a:ea typeface="Times New Roman"/>
                <a:cs typeface="Times New Roman"/>
                <a:sym typeface="Times New Roman"/>
              </a:rPr>
              <a:t>output volt</a:t>
            </a:r>
            <a:r>
              <a:rPr lang="en-US" sz="3585">
                <a:solidFill>
                  <a:srgbClr val="000000"/>
                </a:solidFill>
                <a:latin typeface="Times New Roman"/>
                <a:ea typeface="Times New Roman"/>
                <a:cs typeface="Times New Roman"/>
                <a:sym typeface="Times New Roman"/>
              </a:rPr>
              <a:t>a</a:t>
            </a:r>
            <a:r>
              <a:rPr lang="en-US" sz="3585">
                <a:solidFill>
                  <a:srgbClr val="000000"/>
                </a:solidFill>
                <a:latin typeface="Times New Roman"/>
                <a:ea typeface="Times New Roman"/>
                <a:cs typeface="Times New Roman"/>
                <a:sym typeface="Times New Roman"/>
              </a:rPr>
              <a:t>ge and current i</a:t>
            </a:r>
            <a:r>
              <a:rPr lang="en-US" sz="3585">
                <a:solidFill>
                  <a:srgbClr val="000000"/>
                </a:solidFill>
                <a:latin typeface="Times New Roman"/>
                <a:ea typeface="Times New Roman"/>
                <a:cs typeface="Times New Roman"/>
                <a:sym typeface="Times New Roman"/>
              </a:rPr>
              <a:t>s</a:t>
            </a:r>
            <a:r>
              <a:rPr lang="en-US" sz="3585">
                <a:solidFill>
                  <a:srgbClr val="000000"/>
                </a:solidFill>
                <a:latin typeface="Times New Roman"/>
                <a:ea typeface="Times New Roman"/>
                <a:cs typeface="Times New Roman"/>
                <a:sym typeface="Times New Roman"/>
              </a:rPr>
              <a:t> displa</a:t>
            </a:r>
            <a:r>
              <a:rPr lang="en-US" sz="3585">
                <a:solidFill>
                  <a:srgbClr val="000000"/>
                </a:solidFill>
                <a:latin typeface="Times New Roman"/>
                <a:ea typeface="Times New Roman"/>
                <a:cs typeface="Times New Roman"/>
                <a:sym typeface="Times New Roman"/>
              </a:rPr>
              <a:t>ye</a:t>
            </a:r>
            <a:r>
              <a:rPr lang="en-US" sz="3585">
                <a:solidFill>
                  <a:srgbClr val="000000"/>
                </a:solidFill>
                <a:latin typeface="Times New Roman"/>
                <a:ea typeface="Times New Roman"/>
                <a:cs typeface="Times New Roman"/>
                <a:sym typeface="Times New Roman"/>
              </a:rPr>
              <a:t>d </a:t>
            </a:r>
            <a:r>
              <a:rPr lang="en-US" sz="3585">
                <a:solidFill>
                  <a:srgbClr val="000000"/>
                </a:solidFill>
                <a:latin typeface="Times New Roman"/>
                <a:ea typeface="Times New Roman"/>
                <a:cs typeface="Times New Roman"/>
                <a:sym typeface="Times New Roman"/>
              </a:rPr>
              <a:t>i</a:t>
            </a:r>
            <a:r>
              <a:rPr lang="en-US" sz="3585">
                <a:solidFill>
                  <a:srgbClr val="000000"/>
                </a:solidFill>
                <a:latin typeface="Times New Roman"/>
                <a:ea typeface="Times New Roman"/>
                <a:cs typeface="Times New Roman"/>
                <a:sym typeface="Times New Roman"/>
              </a:rPr>
              <a:t>n</a:t>
            </a:r>
            <a:r>
              <a:rPr lang="en-US" sz="3585">
                <a:solidFill>
                  <a:srgbClr val="000000"/>
                </a:solidFill>
                <a:latin typeface="Times New Roman"/>
                <a:ea typeface="Times New Roman"/>
                <a:cs typeface="Times New Roman"/>
                <a:sym typeface="Times New Roman"/>
              </a:rPr>
              <a:t> </a:t>
            </a:r>
            <a:r>
              <a:rPr lang="en-US" sz="3585">
                <a:solidFill>
                  <a:srgbClr val="000000"/>
                </a:solidFill>
                <a:latin typeface="Times New Roman"/>
                <a:ea typeface="Times New Roman"/>
                <a:cs typeface="Times New Roman"/>
                <a:sym typeface="Times New Roman"/>
              </a:rPr>
              <a:t>thi</a:t>
            </a:r>
            <a:r>
              <a:rPr lang="en-US" sz="3585">
                <a:solidFill>
                  <a:srgbClr val="000000"/>
                </a:solidFill>
                <a:latin typeface="Times New Roman"/>
                <a:ea typeface="Times New Roman"/>
                <a:cs typeface="Times New Roman"/>
                <a:sym typeface="Times New Roman"/>
              </a:rPr>
              <a:t>s</a:t>
            </a:r>
            <a:r>
              <a:rPr lang="en-US" sz="3585">
                <a:solidFill>
                  <a:srgbClr val="000000"/>
                </a:solidFill>
                <a:latin typeface="Times New Roman"/>
                <a:ea typeface="Times New Roman"/>
                <a:cs typeface="Times New Roman"/>
                <a:sym typeface="Times New Roman"/>
              </a:rPr>
              <a:t> do</a:t>
            </a:r>
            <a:r>
              <a:rPr lang="en-US" sz="3585">
                <a:solidFill>
                  <a:srgbClr val="000000"/>
                </a:solidFill>
                <a:latin typeface="Times New Roman"/>
                <a:ea typeface="Times New Roman"/>
                <a:cs typeface="Times New Roman"/>
                <a:sym typeface="Times New Roman"/>
              </a:rPr>
              <a:t>c</a:t>
            </a:r>
            <a:r>
              <a:rPr lang="en-US" sz="3585">
                <a:solidFill>
                  <a:srgbClr val="000000"/>
                </a:solidFill>
                <a:latin typeface="Times New Roman"/>
                <a:ea typeface="Times New Roman"/>
                <a:cs typeface="Times New Roman"/>
                <a:sym typeface="Times New Roman"/>
              </a:rPr>
              <a:t>um</a:t>
            </a:r>
            <a:r>
              <a:rPr lang="en-US" sz="3585">
                <a:solidFill>
                  <a:srgbClr val="000000"/>
                </a:solidFill>
                <a:latin typeface="Times New Roman"/>
                <a:ea typeface="Times New Roman"/>
                <a:cs typeface="Times New Roman"/>
                <a:sym typeface="Times New Roman"/>
              </a:rPr>
              <a:t>e</a:t>
            </a:r>
            <a:r>
              <a:rPr lang="en-US" sz="3585">
                <a:solidFill>
                  <a:srgbClr val="000000"/>
                </a:solidFill>
                <a:latin typeface="Times New Roman"/>
                <a:ea typeface="Times New Roman"/>
                <a:cs typeface="Times New Roman"/>
                <a:sym typeface="Times New Roman"/>
              </a:rPr>
              <a:t>nt. To</a:t>
            </a:r>
            <a:r>
              <a:rPr lang="en-US" sz="3585">
                <a:solidFill>
                  <a:srgbClr val="000000"/>
                </a:solidFill>
                <a:latin typeface="Times New Roman"/>
                <a:ea typeface="Times New Roman"/>
                <a:cs typeface="Times New Roman"/>
                <a:sym typeface="Times New Roman"/>
              </a:rPr>
              <a:t> </a:t>
            </a:r>
            <a:r>
              <a:rPr lang="en-US" sz="3585">
                <a:solidFill>
                  <a:srgbClr val="000000"/>
                </a:solidFill>
                <a:latin typeface="Times New Roman"/>
                <a:ea typeface="Times New Roman"/>
                <a:cs typeface="Times New Roman"/>
                <a:sym typeface="Times New Roman"/>
              </a:rPr>
              <a:t>p</a:t>
            </a:r>
            <a:r>
              <a:rPr lang="en-US" sz="3585">
                <a:solidFill>
                  <a:srgbClr val="000000"/>
                </a:solidFill>
                <a:latin typeface="Times New Roman"/>
                <a:ea typeface="Times New Roman"/>
                <a:cs typeface="Times New Roman"/>
                <a:sym typeface="Times New Roman"/>
              </a:rPr>
              <a:t>r</a:t>
            </a:r>
            <a:r>
              <a:rPr lang="en-US" sz="3585">
                <a:solidFill>
                  <a:srgbClr val="000000"/>
                </a:solidFill>
                <a:latin typeface="Times New Roman"/>
                <a:ea typeface="Times New Roman"/>
                <a:cs typeface="Times New Roman"/>
                <a:sym typeface="Times New Roman"/>
              </a:rPr>
              <a:t>ov</a:t>
            </a:r>
            <a:r>
              <a:rPr lang="en-US" sz="3585">
                <a:solidFill>
                  <a:srgbClr val="000000"/>
                </a:solidFill>
                <a:latin typeface="Times New Roman"/>
                <a:ea typeface="Times New Roman"/>
                <a:cs typeface="Times New Roman"/>
                <a:sym typeface="Times New Roman"/>
              </a:rPr>
              <a:t>ide t</a:t>
            </a:r>
            <a:r>
              <a:rPr lang="en-US" sz="3585">
                <a:solidFill>
                  <a:srgbClr val="000000"/>
                </a:solidFill>
                <a:latin typeface="Times New Roman"/>
                <a:ea typeface="Times New Roman"/>
                <a:cs typeface="Times New Roman"/>
                <a:sym typeface="Times New Roman"/>
              </a:rPr>
              <a:t>he h</a:t>
            </a:r>
            <a:r>
              <a:rPr lang="en-US" sz="3585">
                <a:solidFill>
                  <a:srgbClr val="000000"/>
                </a:solidFill>
                <a:latin typeface="Times New Roman"/>
                <a:ea typeface="Times New Roman"/>
                <a:cs typeface="Times New Roman"/>
                <a:sym typeface="Times New Roman"/>
              </a:rPr>
              <a:t>i</a:t>
            </a:r>
            <a:r>
              <a:rPr lang="en-US" sz="3585">
                <a:solidFill>
                  <a:srgbClr val="000000"/>
                </a:solidFill>
                <a:latin typeface="Times New Roman"/>
                <a:ea typeface="Times New Roman"/>
                <a:cs typeface="Times New Roman"/>
                <a:sym typeface="Times New Roman"/>
              </a:rPr>
              <a:t>gh- </a:t>
            </a:r>
            <a:r>
              <a:rPr lang="en-US" sz="3585">
                <a:solidFill>
                  <a:srgbClr val="000000"/>
                </a:solidFill>
                <a:latin typeface="Times New Roman"/>
                <a:ea typeface="Times New Roman"/>
                <a:cs typeface="Times New Roman"/>
                <a:sym typeface="Times New Roman"/>
              </a:rPr>
              <a:t>level v</a:t>
            </a:r>
            <a:r>
              <a:rPr lang="en-US" sz="3585">
                <a:solidFill>
                  <a:srgbClr val="000000"/>
                </a:solidFill>
                <a:latin typeface="Times New Roman"/>
                <a:ea typeface="Times New Roman"/>
                <a:cs typeface="Times New Roman"/>
                <a:sym typeface="Times New Roman"/>
              </a:rPr>
              <a:t>ol</a:t>
            </a:r>
            <a:r>
              <a:rPr lang="en-US" sz="3585">
                <a:solidFill>
                  <a:srgbClr val="000000"/>
                </a:solidFill>
                <a:latin typeface="Times New Roman"/>
                <a:ea typeface="Times New Roman"/>
                <a:cs typeface="Times New Roman"/>
                <a:sym typeface="Times New Roman"/>
              </a:rPr>
              <a:t>t</a:t>
            </a:r>
            <a:r>
              <a:rPr lang="en-US" sz="3585">
                <a:solidFill>
                  <a:srgbClr val="000000"/>
                </a:solidFill>
                <a:latin typeface="Times New Roman"/>
                <a:ea typeface="Times New Roman"/>
                <a:cs typeface="Times New Roman"/>
                <a:sym typeface="Times New Roman"/>
              </a:rPr>
              <a:t>ag</a:t>
            </a:r>
            <a:r>
              <a:rPr lang="en-US" sz="3585">
                <a:solidFill>
                  <a:srgbClr val="000000"/>
                </a:solidFill>
                <a:latin typeface="Times New Roman"/>
                <a:ea typeface="Times New Roman"/>
                <a:cs typeface="Times New Roman"/>
                <a:sym typeface="Times New Roman"/>
              </a:rPr>
              <a:t>e </a:t>
            </a:r>
            <a:r>
              <a:rPr lang="en-US" sz="3585">
                <a:solidFill>
                  <a:srgbClr val="000000"/>
                </a:solidFill>
                <a:latin typeface="Times New Roman"/>
                <a:ea typeface="Times New Roman"/>
                <a:cs typeface="Times New Roman"/>
                <a:sym typeface="Times New Roman"/>
              </a:rPr>
              <a:t>outpu</a:t>
            </a:r>
            <a:r>
              <a:rPr lang="en-US" sz="3585">
                <a:solidFill>
                  <a:srgbClr val="000000"/>
                </a:solidFill>
                <a:latin typeface="Times New Roman"/>
                <a:ea typeface="Times New Roman"/>
                <a:cs typeface="Times New Roman"/>
                <a:sym typeface="Times New Roman"/>
              </a:rPr>
              <a:t>t</a:t>
            </a:r>
            <a:r>
              <a:rPr lang="en-US" sz="3585">
                <a:solidFill>
                  <a:srgbClr val="000000"/>
                </a:solidFill>
                <a:latin typeface="Times New Roman"/>
                <a:ea typeface="Times New Roman"/>
                <a:cs typeface="Times New Roman"/>
                <a:sym typeface="Times New Roman"/>
              </a:rPr>
              <a:t>, an</a:t>
            </a:r>
            <a:r>
              <a:rPr lang="en-US" sz="3585">
                <a:solidFill>
                  <a:srgbClr val="000000"/>
                </a:solidFill>
                <a:latin typeface="Times New Roman"/>
                <a:ea typeface="Times New Roman"/>
                <a:cs typeface="Times New Roman"/>
                <a:sym typeface="Times New Roman"/>
              </a:rPr>
              <a:t> </a:t>
            </a:r>
            <a:r>
              <a:rPr lang="en-US" sz="3585">
                <a:solidFill>
                  <a:srgbClr val="000000"/>
                </a:solidFill>
                <a:latin typeface="Times New Roman"/>
                <a:ea typeface="Times New Roman"/>
                <a:cs typeface="Times New Roman"/>
                <a:sym typeface="Times New Roman"/>
              </a:rPr>
              <a:t>asymm</a:t>
            </a:r>
            <a:r>
              <a:rPr lang="en-US" sz="3585">
                <a:solidFill>
                  <a:srgbClr val="000000"/>
                </a:solidFill>
                <a:latin typeface="Times New Roman"/>
                <a:ea typeface="Times New Roman"/>
                <a:cs typeface="Times New Roman"/>
                <a:sym typeface="Times New Roman"/>
              </a:rPr>
              <a:t>e</a:t>
            </a:r>
            <a:r>
              <a:rPr lang="en-US" sz="3585">
                <a:solidFill>
                  <a:srgbClr val="000000"/>
                </a:solidFill>
                <a:latin typeface="Times New Roman"/>
                <a:ea typeface="Times New Roman"/>
                <a:cs typeface="Times New Roman"/>
                <a:sym typeface="Times New Roman"/>
              </a:rPr>
              <a:t>tri</a:t>
            </a:r>
            <a:r>
              <a:rPr lang="en-US" sz="3585">
                <a:solidFill>
                  <a:srgbClr val="000000"/>
                </a:solidFill>
                <a:latin typeface="Times New Roman"/>
                <a:ea typeface="Times New Roman"/>
                <a:cs typeface="Times New Roman"/>
                <a:sym typeface="Times New Roman"/>
              </a:rPr>
              <a:t>c</a:t>
            </a:r>
            <a:r>
              <a:rPr lang="en-US" sz="3585">
                <a:solidFill>
                  <a:srgbClr val="000000"/>
                </a:solidFill>
                <a:latin typeface="Times New Roman"/>
                <a:ea typeface="Times New Roman"/>
                <a:cs typeface="Times New Roman"/>
                <a:sym typeface="Times New Roman"/>
              </a:rPr>
              <a:t> DC</a:t>
            </a:r>
            <a:r>
              <a:rPr lang="en-US" sz="3585">
                <a:solidFill>
                  <a:srgbClr val="000000"/>
                </a:solidFill>
                <a:latin typeface="Times New Roman"/>
                <a:ea typeface="Times New Roman"/>
                <a:cs typeface="Times New Roman"/>
                <a:sym typeface="Times New Roman"/>
              </a:rPr>
              <a:t> s</a:t>
            </a:r>
            <a:r>
              <a:rPr lang="en-US" sz="3585">
                <a:solidFill>
                  <a:srgbClr val="000000"/>
                </a:solidFill>
                <a:latin typeface="Times New Roman"/>
                <a:ea typeface="Times New Roman"/>
                <a:cs typeface="Times New Roman"/>
                <a:sym typeface="Times New Roman"/>
              </a:rPr>
              <a:t>our</a:t>
            </a:r>
            <a:r>
              <a:rPr lang="en-US" sz="3585">
                <a:solidFill>
                  <a:srgbClr val="000000"/>
                </a:solidFill>
                <a:latin typeface="Times New Roman"/>
                <a:ea typeface="Times New Roman"/>
                <a:cs typeface="Times New Roman"/>
                <a:sym typeface="Times New Roman"/>
              </a:rPr>
              <a:t>c</a:t>
            </a:r>
            <a:r>
              <a:rPr lang="en-US" sz="3585">
                <a:solidFill>
                  <a:srgbClr val="000000"/>
                </a:solidFill>
                <a:latin typeface="Times New Roman"/>
                <a:ea typeface="Times New Roman"/>
                <a:cs typeface="Times New Roman"/>
                <a:sym typeface="Times New Roman"/>
              </a:rPr>
              <a:t>e</a:t>
            </a:r>
            <a:r>
              <a:rPr lang="en-US" sz="3585">
                <a:solidFill>
                  <a:srgbClr val="000000"/>
                </a:solidFill>
                <a:latin typeface="Times New Roman"/>
                <a:ea typeface="Times New Roman"/>
                <a:cs typeface="Times New Roman"/>
                <a:sym typeface="Times New Roman"/>
              </a:rPr>
              <a:t> con</a:t>
            </a:r>
            <a:r>
              <a:rPr lang="en-US" sz="3585">
                <a:solidFill>
                  <a:srgbClr val="000000"/>
                </a:solidFill>
                <a:latin typeface="Times New Roman"/>
                <a:ea typeface="Times New Roman"/>
                <a:cs typeface="Times New Roman"/>
                <a:sym typeface="Times New Roman"/>
              </a:rPr>
              <a:t>figura</a:t>
            </a:r>
            <a:r>
              <a:rPr lang="en-US" sz="3585">
                <a:solidFill>
                  <a:srgbClr val="000000"/>
                </a:solidFill>
                <a:latin typeface="Times New Roman"/>
                <a:ea typeface="Times New Roman"/>
                <a:cs typeface="Times New Roman"/>
                <a:sym typeface="Times New Roman"/>
              </a:rPr>
              <a:t>t</a:t>
            </a:r>
            <a:r>
              <a:rPr lang="en-US" sz="3585">
                <a:solidFill>
                  <a:srgbClr val="000000"/>
                </a:solidFill>
                <a:latin typeface="Times New Roman"/>
                <a:ea typeface="Times New Roman"/>
                <a:cs typeface="Times New Roman"/>
                <a:sym typeface="Times New Roman"/>
              </a:rPr>
              <a:t>ion was used. The configuration used in this paper is made to allow the su</a:t>
            </a:r>
            <a:r>
              <a:rPr lang="en-US" sz="3585">
                <a:solidFill>
                  <a:srgbClr val="000000"/>
                </a:solidFill>
                <a:latin typeface="Times New Roman"/>
                <a:ea typeface="Times New Roman"/>
                <a:cs typeface="Times New Roman"/>
                <a:sym typeface="Times New Roman"/>
              </a:rPr>
              <a:t>g</a:t>
            </a:r>
            <a:r>
              <a:rPr lang="en-US" sz="3585">
                <a:solidFill>
                  <a:srgbClr val="000000"/>
                </a:solidFill>
                <a:latin typeface="Times New Roman"/>
                <a:ea typeface="Times New Roman"/>
                <a:cs typeface="Times New Roman"/>
                <a:sym typeface="Times New Roman"/>
              </a:rPr>
              <a:t>g</a:t>
            </a:r>
            <a:r>
              <a:rPr lang="en-US" sz="3585">
                <a:solidFill>
                  <a:srgbClr val="000000"/>
                </a:solidFill>
                <a:latin typeface="Times New Roman"/>
                <a:ea typeface="Times New Roman"/>
                <a:cs typeface="Times New Roman"/>
                <a:sym typeface="Times New Roman"/>
              </a:rPr>
              <a:t>e</a:t>
            </a:r>
            <a:r>
              <a:rPr lang="en-US" sz="3585">
                <a:solidFill>
                  <a:srgbClr val="000000"/>
                </a:solidFill>
                <a:latin typeface="Times New Roman"/>
                <a:ea typeface="Times New Roman"/>
                <a:cs typeface="Times New Roman"/>
                <a:sym typeface="Times New Roman"/>
              </a:rPr>
              <a:t>s</a:t>
            </a:r>
            <a:r>
              <a:rPr lang="en-US" sz="3585">
                <a:solidFill>
                  <a:srgbClr val="000000"/>
                </a:solidFill>
                <a:latin typeface="Times New Roman"/>
                <a:ea typeface="Times New Roman"/>
                <a:cs typeface="Times New Roman"/>
                <a:sym typeface="Times New Roman"/>
              </a:rPr>
              <a:t>ted ar</a:t>
            </a:r>
            <a:r>
              <a:rPr lang="en-US" sz="3585">
                <a:solidFill>
                  <a:srgbClr val="000000"/>
                </a:solidFill>
                <a:latin typeface="Times New Roman"/>
                <a:ea typeface="Times New Roman"/>
                <a:cs typeface="Times New Roman"/>
                <a:sym typeface="Times New Roman"/>
              </a:rPr>
              <a:t>chit</a:t>
            </a:r>
            <a:r>
              <a:rPr lang="en-US" sz="3585">
                <a:solidFill>
                  <a:srgbClr val="000000"/>
                </a:solidFill>
                <a:latin typeface="Times New Roman"/>
                <a:ea typeface="Times New Roman"/>
                <a:cs typeface="Times New Roman"/>
                <a:sym typeface="Times New Roman"/>
              </a:rPr>
              <a:t>e</a:t>
            </a:r>
            <a:r>
              <a:rPr lang="en-US" sz="3585">
                <a:solidFill>
                  <a:srgbClr val="000000"/>
                </a:solidFill>
                <a:latin typeface="Times New Roman"/>
                <a:ea typeface="Times New Roman"/>
                <a:cs typeface="Times New Roman"/>
                <a:sym typeface="Times New Roman"/>
              </a:rPr>
              <a:t>c</a:t>
            </a:r>
            <a:r>
              <a:rPr lang="en-US" sz="3585">
                <a:solidFill>
                  <a:srgbClr val="000000"/>
                </a:solidFill>
                <a:latin typeface="Times New Roman"/>
                <a:ea typeface="Times New Roman"/>
                <a:cs typeface="Times New Roman"/>
                <a:sym typeface="Times New Roman"/>
              </a:rPr>
              <a:t>t</a:t>
            </a:r>
            <a:r>
              <a:rPr lang="en-US" sz="3585">
                <a:solidFill>
                  <a:srgbClr val="000000"/>
                </a:solidFill>
                <a:latin typeface="Times New Roman"/>
                <a:ea typeface="Times New Roman"/>
                <a:cs typeface="Times New Roman"/>
                <a:sym typeface="Times New Roman"/>
              </a:rPr>
              <a:t>ur</a:t>
            </a:r>
            <a:r>
              <a:rPr lang="en-US" sz="3585">
                <a:solidFill>
                  <a:srgbClr val="000000"/>
                </a:solidFill>
                <a:latin typeface="Times New Roman"/>
                <a:ea typeface="Times New Roman"/>
                <a:cs typeface="Times New Roman"/>
                <a:sym typeface="Times New Roman"/>
              </a:rPr>
              <a:t>e</a:t>
            </a:r>
            <a:r>
              <a:rPr lang="en-US" sz="3585">
                <a:solidFill>
                  <a:srgbClr val="000000"/>
                </a:solidFill>
                <a:latin typeface="Times New Roman"/>
                <a:ea typeface="Times New Roman"/>
                <a:cs typeface="Times New Roman"/>
                <a:sym typeface="Times New Roman"/>
              </a:rPr>
              <a:t> to produce a full cycle of AC voltage with both negative and </a:t>
            </a:r>
            <a:r>
              <a:rPr lang="en-US" sz="3585">
                <a:solidFill>
                  <a:srgbClr val="000000"/>
                </a:solidFill>
                <a:latin typeface="Times New Roman"/>
                <a:ea typeface="Times New Roman"/>
                <a:cs typeface="Times New Roman"/>
                <a:sym typeface="Times New Roman"/>
              </a:rPr>
              <a:t>9 positive half cycles. The conventional polarity changer circuit is thus no longer necessary. In addition, switching losses have decreased due to the reduction from 40 to 12 switches, which lowers the cost of the devices. Additionally, there are a</a:t>
            </a:r>
            <a:r>
              <a:rPr lang="en-US" sz="3585">
                <a:solidFill>
                  <a:srgbClr val="000000"/>
                </a:solidFill>
                <a:latin typeface="Times New Roman"/>
                <a:ea typeface="Times New Roman"/>
                <a:cs typeface="Times New Roman"/>
                <a:sym typeface="Times New Roman"/>
              </a:rPr>
              <a:t> lot less DC sources </a:t>
            </a:r>
            <a:r>
              <a:rPr lang="en-US" sz="3585">
                <a:solidFill>
                  <a:srgbClr val="000000"/>
                </a:solidFill>
                <a:latin typeface="Times New Roman"/>
                <a:ea typeface="Times New Roman"/>
                <a:cs typeface="Times New Roman"/>
                <a:sym typeface="Times New Roman"/>
              </a:rPr>
              <a:t>and </a:t>
            </a:r>
            <a:r>
              <a:rPr lang="en-US" sz="3585">
                <a:solidFill>
                  <a:srgbClr val="000000"/>
                </a:solidFill>
                <a:latin typeface="Times New Roman"/>
                <a:ea typeface="Times New Roman"/>
                <a:cs typeface="Times New Roman"/>
                <a:sym typeface="Times New Roman"/>
              </a:rPr>
              <a:t>ga</a:t>
            </a:r>
            <a:r>
              <a:rPr lang="en-US" sz="3585">
                <a:solidFill>
                  <a:srgbClr val="000000"/>
                </a:solidFill>
                <a:latin typeface="Times New Roman"/>
                <a:ea typeface="Times New Roman"/>
                <a:cs typeface="Times New Roman"/>
                <a:sym typeface="Times New Roman"/>
              </a:rPr>
              <a:t>te </a:t>
            </a:r>
            <a:r>
              <a:rPr lang="en-US" sz="3585">
                <a:solidFill>
                  <a:srgbClr val="000000"/>
                </a:solidFill>
                <a:latin typeface="Times New Roman"/>
                <a:ea typeface="Times New Roman"/>
                <a:cs typeface="Times New Roman"/>
                <a:sym typeface="Times New Roman"/>
              </a:rPr>
              <a:t>driver circuits. Addition</a:t>
            </a:r>
            <a:r>
              <a:rPr lang="en-US" sz="3585">
                <a:solidFill>
                  <a:srgbClr val="000000"/>
                </a:solidFill>
                <a:latin typeface="Times New Roman"/>
                <a:ea typeface="Times New Roman"/>
                <a:cs typeface="Times New Roman"/>
                <a:sym typeface="Times New Roman"/>
              </a:rPr>
              <a:t>ally, the SHE PWM strategy has made THD </a:t>
            </a:r>
            <a:r>
              <a:rPr lang="en-US" sz="3585">
                <a:solidFill>
                  <a:srgbClr val="000000"/>
                </a:solidFill>
                <a:latin typeface="Times New Roman"/>
                <a:ea typeface="Times New Roman"/>
                <a:cs typeface="Times New Roman"/>
                <a:sym typeface="Times New Roman"/>
              </a:rPr>
              <a:t>re</a:t>
            </a:r>
            <a:r>
              <a:rPr lang="en-US" sz="3585">
                <a:solidFill>
                  <a:srgbClr val="000000"/>
                </a:solidFill>
                <a:latin typeface="Times New Roman"/>
                <a:ea typeface="Times New Roman"/>
                <a:cs typeface="Times New Roman"/>
                <a:sym typeface="Times New Roman"/>
              </a:rPr>
              <a:t>duct</a:t>
            </a:r>
            <a:r>
              <a:rPr lang="en-US" sz="3585">
                <a:solidFill>
                  <a:srgbClr val="000000"/>
                </a:solidFill>
                <a:latin typeface="Times New Roman"/>
                <a:ea typeface="Times New Roman"/>
                <a:cs typeface="Times New Roman"/>
                <a:sym typeface="Times New Roman"/>
              </a:rPr>
              <a:t>i</a:t>
            </a:r>
            <a:r>
              <a:rPr lang="en-US" sz="3585">
                <a:solidFill>
                  <a:srgbClr val="000000"/>
                </a:solidFill>
                <a:latin typeface="Times New Roman"/>
                <a:ea typeface="Times New Roman"/>
                <a:cs typeface="Times New Roman"/>
                <a:sym typeface="Times New Roman"/>
              </a:rPr>
              <a:t>on</a:t>
            </a:r>
            <a:r>
              <a:rPr lang="en-US" sz="3585">
                <a:solidFill>
                  <a:srgbClr val="000000"/>
                </a:solidFill>
                <a:latin typeface="Times New Roman"/>
                <a:ea typeface="Times New Roman"/>
                <a:cs typeface="Times New Roman"/>
                <a:sym typeface="Times New Roman"/>
              </a:rPr>
              <a:t> eff</a:t>
            </a:r>
            <a:r>
              <a:rPr lang="en-US" sz="3585">
                <a:solidFill>
                  <a:srgbClr val="000000"/>
                </a:solidFill>
                <a:latin typeface="Times New Roman"/>
                <a:ea typeface="Times New Roman"/>
                <a:cs typeface="Times New Roman"/>
                <a:sym typeface="Times New Roman"/>
              </a:rPr>
              <a:t>e</a:t>
            </a:r>
            <a:r>
              <a:rPr lang="en-US" sz="3585">
                <a:solidFill>
                  <a:srgbClr val="000000"/>
                </a:solidFill>
                <a:latin typeface="Times New Roman"/>
                <a:ea typeface="Times New Roman"/>
                <a:cs typeface="Times New Roman"/>
                <a:sym typeface="Times New Roman"/>
              </a:rPr>
              <a:t>c</a:t>
            </a:r>
            <a:r>
              <a:rPr lang="en-US" sz="3585">
                <a:solidFill>
                  <a:srgbClr val="000000"/>
                </a:solidFill>
                <a:latin typeface="Times New Roman"/>
                <a:ea typeface="Times New Roman"/>
                <a:cs typeface="Times New Roman"/>
                <a:sym typeface="Times New Roman"/>
              </a:rPr>
              <a:t>t</a:t>
            </a:r>
            <a:r>
              <a:rPr lang="en-US" sz="3585">
                <a:solidFill>
                  <a:srgbClr val="000000"/>
                </a:solidFill>
                <a:latin typeface="Times New Roman"/>
                <a:ea typeface="Times New Roman"/>
                <a:cs typeface="Times New Roman"/>
                <a:sym typeface="Times New Roman"/>
              </a:rPr>
              <a:t>i</a:t>
            </a:r>
            <a:r>
              <a:rPr lang="en-US" sz="3585">
                <a:solidFill>
                  <a:srgbClr val="000000"/>
                </a:solidFill>
                <a:latin typeface="Times New Roman"/>
                <a:ea typeface="Times New Roman"/>
                <a:cs typeface="Times New Roman"/>
                <a:sym typeface="Times New Roman"/>
              </a:rPr>
              <a:t>v</a:t>
            </a:r>
            <a:r>
              <a:rPr lang="en-US" sz="3585">
                <a:solidFill>
                  <a:srgbClr val="000000"/>
                </a:solidFill>
                <a:latin typeface="Times New Roman"/>
                <a:ea typeface="Times New Roman"/>
                <a:cs typeface="Times New Roman"/>
                <a:sym typeface="Times New Roman"/>
              </a:rPr>
              <a:t>e</a:t>
            </a:r>
            <a:r>
              <a:rPr lang="en-US" sz="3585">
                <a:solidFill>
                  <a:srgbClr val="000000"/>
                </a:solidFill>
                <a:latin typeface="Times New Roman"/>
                <a:ea typeface="Times New Roman"/>
                <a:cs typeface="Times New Roman"/>
                <a:sym typeface="Times New Roman"/>
              </a:rPr>
              <a:t>.</a:t>
            </a:r>
            <a:r>
              <a:rPr lang="en-US" sz="3585">
                <a:solidFill>
                  <a:srgbClr val="000000"/>
                </a:solidFill>
                <a:latin typeface="Times New Roman"/>
                <a:ea typeface="Times New Roman"/>
                <a:cs typeface="Times New Roman"/>
                <a:sym typeface="Times New Roman"/>
              </a:rPr>
              <a:t> </a:t>
            </a:r>
            <a:r>
              <a:rPr lang="en-US" sz="3585">
                <a:solidFill>
                  <a:srgbClr val="000000"/>
                </a:solidFill>
                <a:latin typeface="Times New Roman"/>
                <a:ea typeface="Times New Roman"/>
                <a:cs typeface="Times New Roman"/>
                <a:sym typeface="Times New Roman"/>
              </a:rPr>
              <a:t>H</a:t>
            </a:r>
            <a:r>
              <a:rPr lang="en-US" sz="3585">
                <a:solidFill>
                  <a:srgbClr val="000000"/>
                </a:solidFill>
                <a:latin typeface="Times New Roman"/>
                <a:ea typeface="Times New Roman"/>
                <a:cs typeface="Times New Roman"/>
                <a:sym typeface="Times New Roman"/>
              </a:rPr>
              <a:t>a</a:t>
            </a:r>
            <a:r>
              <a:rPr lang="en-US" sz="3585">
                <a:solidFill>
                  <a:srgbClr val="000000"/>
                </a:solidFill>
                <a:latin typeface="Times New Roman"/>
                <a:ea typeface="Times New Roman"/>
                <a:cs typeface="Times New Roman"/>
                <a:sym typeface="Times New Roman"/>
              </a:rPr>
              <a:t>rmo</a:t>
            </a:r>
            <a:r>
              <a:rPr lang="en-US" sz="3585">
                <a:solidFill>
                  <a:srgbClr val="000000"/>
                </a:solidFill>
                <a:latin typeface="Times New Roman"/>
                <a:ea typeface="Times New Roman"/>
                <a:cs typeface="Times New Roman"/>
                <a:sym typeface="Times New Roman"/>
              </a:rPr>
              <a:t>n</a:t>
            </a:r>
            <a:r>
              <a:rPr lang="en-US" sz="3585">
                <a:solidFill>
                  <a:srgbClr val="000000"/>
                </a:solidFill>
                <a:latin typeface="Times New Roman"/>
                <a:ea typeface="Times New Roman"/>
                <a:cs typeface="Times New Roman"/>
                <a:sym typeface="Times New Roman"/>
              </a:rPr>
              <a:t>i</a:t>
            </a:r>
            <a:r>
              <a:rPr lang="en-US" sz="3585">
                <a:solidFill>
                  <a:srgbClr val="000000"/>
                </a:solidFill>
                <a:latin typeface="Times New Roman"/>
                <a:ea typeface="Times New Roman"/>
                <a:cs typeface="Times New Roman"/>
                <a:sym typeface="Times New Roman"/>
              </a:rPr>
              <a:t>c</a:t>
            </a:r>
            <a:r>
              <a:rPr lang="en-US" sz="3585">
                <a:solidFill>
                  <a:srgbClr val="000000"/>
                </a:solidFill>
                <a:latin typeface="Times New Roman"/>
                <a:ea typeface="Times New Roman"/>
                <a:cs typeface="Times New Roman"/>
                <a:sym typeface="Times New Roman"/>
              </a:rPr>
              <a:t> </a:t>
            </a:r>
            <a:r>
              <a:rPr lang="en-US" sz="3585">
                <a:solidFill>
                  <a:srgbClr val="000000"/>
                </a:solidFill>
                <a:latin typeface="Times New Roman"/>
                <a:ea typeface="Times New Roman"/>
                <a:cs typeface="Times New Roman"/>
                <a:sym typeface="Times New Roman"/>
              </a:rPr>
              <a:t>a</a:t>
            </a:r>
            <a:r>
              <a:rPr lang="en-US" sz="3585">
                <a:solidFill>
                  <a:srgbClr val="000000"/>
                </a:solidFill>
                <a:latin typeface="Times New Roman"/>
                <a:ea typeface="Times New Roman"/>
                <a:cs typeface="Times New Roman"/>
                <a:sym typeface="Times New Roman"/>
              </a:rPr>
              <a:t>n</a:t>
            </a:r>
            <a:r>
              <a:rPr lang="en-US" sz="3585">
                <a:solidFill>
                  <a:srgbClr val="000000"/>
                </a:solidFill>
                <a:latin typeface="Times New Roman"/>
                <a:ea typeface="Times New Roman"/>
                <a:cs typeface="Times New Roman"/>
                <a:sym typeface="Times New Roman"/>
              </a:rPr>
              <a:t>al</a:t>
            </a:r>
            <a:r>
              <a:rPr lang="en-US" sz="3585">
                <a:solidFill>
                  <a:srgbClr val="000000"/>
                </a:solidFill>
                <a:latin typeface="Times New Roman"/>
                <a:ea typeface="Times New Roman"/>
                <a:cs typeface="Times New Roman"/>
                <a:sym typeface="Times New Roman"/>
              </a:rPr>
              <a:t>ysis</a:t>
            </a:r>
            <a:r>
              <a:rPr lang="en-US" sz="3585">
                <a:solidFill>
                  <a:srgbClr val="000000"/>
                </a:solidFill>
                <a:latin typeface="Times New Roman"/>
                <a:ea typeface="Times New Roman"/>
                <a:cs typeface="Times New Roman"/>
                <a:sym typeface="Times New Roman"/>
              </a:rPr>
              <a:t> </a:t>
            </a:r>
            <a:r>
              <a:rPr lang="en-US" sz="3585">
                <a:solidFill>
                  <a:srgbClr val="000000"/>
                </a:solidFill>
                <a:latin typeface="Times New Roman"/>
                <a:ea typeface="Times New Roman"/>
                <a:cs typeface="Times New Roman"/>
                <a:sym typeface="Times New Roman"/>
              </a:rPr>
              <a:t>wa</a:t>
            </a:r>
            <a:r>
              <a:rPr lang="en-US" sz="3585">
                <a:solidFill>
                  <a:srgbClr val="000000"/>
                </a:solidFill>
                <a:latin typeface="Times New Roman"/>
                <a:ea typeface="Times New Roman"/>
                <a:cs typeface="Times New Roman"/>
                <a:sym typeface="Times New Roman"/>
              </a:rPr>
              <a:t>s </a:t>
            </a:r>
            <a:r>
              <a:rPr lang="en-US" sz="3585">
                <a:solidFill>
                  <a:srgbClr val="000000"/>
                </a:solidFill>
                <a:latin typeface="Times New Roman"/>
                <a:ea typeface="Times New Roman"/>
                <a:cs typeface="Times New Roman"/>
                <a:sym typeface="Times New Roman"/>
              </a:rPr>
              <a:t>performed using the software MATLAB/Simulink. The method was successfully put into practice, and the result was verified using the simulation setup.</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73558" y="1566329"/>
            <a:ext cx="17740884" cy="600075"/>
          </a:xfrm>
          <a:prstGeom prst="rect">
            <a:avLst/>
          </a:prstGeom>
        </p:spPr>
        <p:txBody>
          <a:bodyPr anchor="t" rtlCol="false" tIns="0" lIns="0" bIns="0" rIns="0">
            <a:spAutoFit/>
          </a:bodyPr>
          <a:lstStyle/>
          <a:p>
            <a:pPr algn="l">
              <a:lnSpc>
                <a:spcPts val="4559"/>
              </a:lnSpc>
            </a:pPr>
            <a:r>
              <a:rPr lang="en-US" sz="3799" b="true">
                <a:solidFill>
                  <a:srgbClr val="000000"/>
                </a:solidFill>
                <a:latin typeface="Times New Roman Bold"/>
                <a:ea typeface="Times New Roman Bold"/>
                <a:cs typeface="Times New Roman Bold"/>
                <a:sym typeface="Times New Roman Bold"/>
              </a:rPr>
              <a:t>FUTURE SCOPE:</a:t>
            </a:r>
          </a:p>
        </p:txBody>
      </p:sp>
      <p:sp>
        <p:nvSpPr>
          <p:cNvPr name="TextBox 3" id="3"/>
          <p:cNvSpPr txBox="true"/>
          <p:nvPr/>
        </p:nvSpPr>
        <p:spPr>
          <a:xfrm rot="0">
            <a:off x="250698" y="2755459"/>
            <a:ext cx="16157416" cy="6086458"/>
          </a:xfrm>
          <a:prstGeom prst="rect">
            <a:avLst/>
          </a:prstGeom>
        </p:spPr>
        <p:txBody>
          <a:bodyPr anchor="t" rtlCol="false" tIns="0" lIns="0" bIns="0" rIns="0">
            <a:spAutoFit/>
          </a:bodyPr>
          <a:lstStyle/>
          <a:p>
            <a:pPr algn="l">
              <a:lnSpc>
                <a:spcPts val="3734"/>
              </a:lnSpc>
            </a:pPr>
            <a:r>
              <a:rPr lang="en-US" sz="3218">
                <a:solidFill>
                  <a:srgbClr val="000000"/>
                </a:solidFill>
                <a:latin typeface="Times New Roman"/>
                <a:ea typeface="Times New Roman"/>
                <a:cs typeface="Times New Roman"/>
                <a:sym typeface="Times New Roman"/>
              </a:rPr>
              <a:t>The </a:t>
            </a:r>
            <a:r>
              <a:rPr lang="en-US" sz="3218" b="true">
                <a:solidFill>
                  <a:srgbClr val="000000"/>
                </a:solidFill>
                <a:latin typeface="Times New Roman Bold"/>
                <a:ea typeface="Times New Roman Bold"/>
                <a:cs typeface="Times New Roman Bold"/>
                <a:sym typeface="Times New Roman Bold"/>
              </a:rPr>
              <a:t>21-level asymmetric cascaded H-bridge multilevel inverter with reduced switch count </a:t>
            </a:r>
            <a:r>
              <a:rPr lang="en-US" sz="3218">
                <a:solidFill>
                  <a:srgbClr val="000000"/>
                </a:solidFill>
                <a:latin typeface="Times New Roman"/>
                <a:ea typeface="Times New Roman"/>
                <a:cs typeface="Times New Roman"/>
                <a:sym typeface="Times New Roman"/>
              </a:rPr>
              <a:t>is an efficient and advanced solution for </a:t>
            </a:r>
            <a:r>
              <a:rPr lang="en-US" sz="3218" b="true">
                <a:solidFill>
                  <a:srgbClr val="000000"/>
                </a:solidFill>
                <a:latin typeface="Times New Roman Bold"/>
                <a:ea typeface="Times New Roman Bold"/>
                <a:cs typeface="Times New Roman Bold"/>
                <a:sym typeface="Times New Roman Bold"/>
              </a:rPr>
              <a:t>grid-connected solar energy systems</a:t>
            </a:r>
            <a:r>
              <a:rPr lang="en-US" sz="3218">
                <a:solidFill>
                  <a:srgbClr val="000000"/>
                </a:solidFill>
                <a:latin typeface="Times New Roman"/>
                <a:ea typeface="Times New Roman"/>
                <a:cs typeface="Times New Roman"/>
                <a:sym typeface="Times New Roman"/>
              </a:rPr>
              <a:t>. It produces a high-quality output voltage with very low harmonic distortion, improving overall power quality and reducing the need for large filters.</a:t>
            </a:r>
          </a:p>
          <a:p>
            <a:pPr algn="just">
              <a:lnSpc>
                <a:spcPts val="3734"/>
              </a:lnSpc>
            </a:pPr>
            <a:r>
              <a:rPr lang="en-US" sz="3218">
                <a:solidFill>
                  <a:srgbClr val="000000"/>
                </a:solidFill>
                <a:latin typeface="Times New Roman"/>
                <a:ea typeface="Times New Roman"/>
                <a:cs typeface="Times New Roman"/>
                <a:sym typeface="Times New Roman"/>
              </a:rPr>
              <a:t>By using an </a:t>
            </a:r>
            <a:r>
              <a:rPr lang="en-US" sz="3218" b="true">
                <a:solidFill>
                  <a:srgbClr val="000000"/>
                </a:solidFill>
                <a:latin typeface="Times New Roman Bold"/>
                <a:ea typeface="Times New Roman Bold"/>
                <a:cs typeface="Times New Roman Bold"/>
                <a:sym typeface="Times New Roman Bold"/>
              </a:rPr>
              <a:t>asymmetric configuration</a:t>
            </a:r>
            <a:r>
              <a:rPr lang="en-US" sz="3218">
                <a:solidFill>
                  <a:srgbClr val="000000"/>
                </a:solidFill>
                <a:latin typeface="Times New Roman"/>
                <a:ea typeface="Times New Roman"/>
                <a:cs typeface="Times New Roman"/>
                <a:sym typeface="Times New Roman"/>
              </a:rPr>
              <a:t>, the inverter achieves more voltage levels with fewer components, which helps in reducing cost, switching losses, and circuit complexity to some extent. This makes it highly suitable for renewable energy applications where efficiency and performance are important.</a:t>
            </a:r>
          </a:p>
          <a:p>
            <a:pPr algn="l">
              <a:lnSpc>
                <a:spcPts val="3736"/>
              </a:lnSpc>
            </a:pPr>
            <a:r>
              <a:rPr lang="en-US" sz="3218">
                <a:solidFill>
                  <a:srgbClr val="000000"/>
                </a:solidFill>
                <a:latin typeface="Times New Roman"/>
                <a:ea typeface="Times New Roman"/>
                <a:cs typeface="Times New Roman"/>
                <a:sym typeface="Times New Roman"/>
              </a:rPr>
              <a:t>However, the system requires </a:t>
            </a:r>
            <a:r>
              <a:rPr lang="en-US" sz="3218" b="true">
                <a:solidFill>
                  <a:srgbClr val="000000"/>
                </a:solidFill>
                <a:latin typeface="Times New Roman Bold"/>
                <a:ea typeface="Times New Roman Bold"/>
                <a:cs typeface="Times New Roman Bold"/>
                <a:sym typeface="Times New Roman Bold"/>
              </a:rPr>
              <a:t>advanced control techniques </a:t>
            </a:r>
            <a:r>
              <a:rPr lang="en-US" sz="3218">
                <a:solidFill>
                  <a:srgbClr val="000000"/>
                </a:solidFill>
                <a:latin typeface="Times New Roman"/>
                <a:ea typeface="Times New Roman"/>
                <a:cs typeface="Times New Roman"/>
                <a:sym typeface="Times New Roman"/>
              </a:rPr>
              <a:t>and proper voltage balancing, which increases design and implementation complexity.</a:t>
            </a:r>
          </a:p>
          <a:p>
            <a:pPr algn="l">
              <a:lnSpc>
                <a:spcPts val="3736"/>
              </a:lnSpc>
            </a:pPr>
            <a:r>
              <a:rPr lang="en-US" sz="3218">
                <a:solidFill>
                  <a:srgbClr val="000000"/>
                </a:solidFill>
                <a:latin typeface="Times New Roman"/>
                <a:ea typeface="Times New Roman"/>
                <a:cs typeface="Times New Roman"/>
                <a:sym typeface="Times New Roman"/>
              </a:rPr>
              <a:t>Overall, this inverter provides a </a:t>
            </a:r>
            <a:r>
              <a:rPr lang="en-US" sz="3218" b="true">
                <a:solidFill>
                  <a:srgbClr val="000000"/>
                </a:solidFill>
                <a:latin typeface="Times New Roman Bold"/>
                <a:ea typeface="Times New Roman Bold"/>
                <a:cs typeface="Times New Roman Bold"/>
                <a:sym typeface="Times New Roman Bold"/>
              </a:rPr>
              <a:t>reliable, efficient, and scalable solution </a:t>
            </a:r>
            <a:r>
              <a:rPr lang="en-US" sz="3218">
                <a:solidFill>
                  <a:srgbClr val="000000"/>
                </a:solidFill>
                <a:latin typeface="Times New Roman"/>
                <a:ea typeface="Times New Roman"/>
                <a:cs typeface="Times New Roman"/>
                <a:sym typeface="Times New Roman"/>
              </a:rPr>
              <a:t>for integrating solar power into the grid, making it a promising approach for modern power systems and renewable energy applications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73558" y="1577121"/>
            <a:ext cx="17740884" cy="978170"/>
          </a:xfrm>
          <a:prstGeom prst="rect">
            <a:avLst/>
          </a:prstGeom>
        </p:spPr>
        <p:txBody>
          <a:bodyPr anchor="t" rtlCol="false" tIns="0" lIns="0" bIns="0" rIns="0">
            <a:spAutoFit/>
          </a:bodyPr>
          <a:lstStyle/>
          <a:p>
            <a:pPr algn="l">
              <a:lnSpc>
                <a:spcPts val="3240"/>
              </a:lnSpc>
            </a:pPr>
            <a:r>
              <a:rPr lang="en-US" sz="2700" b="true">
                <a:solidFill>
                  <a:srgbClr val="000000"/>
                </a:solidFill>
                <a:latin typeface="Times New Roman Bold"/>
                <a:ea typeface="Times New Roman Bold"/>
                <a:cs typeface="Times New Roman Bold"/>
                <a:sym typeface="Times New Roman Bold"/>
              </a:rPr>
              <a:t>R E F E R E N C E S :</a:t>
            </a:r>
          </a:p>
        </p:txBody>
      </p:sp>
      <p:sp>
        <p:nvSpPr>
          <p:cNvPr name="TextBox 3" id="3"/>
          <p:cNvSpPr txBox="true"/>
          <p:nvPr/>
        </p:nvSpPr>
        <p:spPr>
          <a:xfrm rot="0">
            <a:off x="250698" y="2813494"/>
            <a:ext cx="14568488" cy="6873240"/>
          </a:xfrm>
          <a:prstGeom prst="rect">
            <a:avLst/>
          </a:prstGeom>
        </p:spPr>
        <p:txBody>
          <a:bodyPr anchor="t" rtlCol="false" tIns="0" lIns="0" bIns="0" rIns="0">
            <a:spAutoFit/>
          </a:bodyPr>
          <a:lstStyle/>
          <a:p>
            <a:pPr algn="l" marL="443865" indent="-221933" lvl="1">
              <a:lnSpc>
                <a:spcPts val="2775"/>
              </a:lnSpc>
              <a:buFont typeface="Arial"/>
              <a:buChar char="•"/>
            </a:pPr>
            <a:r>
              <a:rPr lang="en-US" sz="2400">
                <a:solidFill>
                  <a:srgbClr val="000000"/>
                </a:solidFill>
                <a:latin typeface="Times New Roman"/>
                <a:ea typeface="Times New Roman"/>
                <a:cs typeface="Times New Roman"/>
                <a:sym typeface="Times New Roman"/>
              </a:rPr>
              <a:t>	. Rodriguez, J. S. Lai, and F. Z. Peng,“Multilevel Inverters: A Survey of Topologies, Controls, and Applications,” IEEE Transactions on Industrial Electronics, 2002.</a:t>
            </a:r>
          </a:p>
          <a:p>
            <a:pPr algn="l" marL="443865" indent="-221933" lvl="1">
              <a:lnSpc>
                <a:spcPts val="2662"/>
              </a:lnSpc>
            </a:pPr>
            <a:r>
              <a:rPr lang="en-US" sz="2400" spc="-15">
                <a:solidFill>
                  <a:srgbClr val="000000"/>
                </a:solidFill>
                <a:latin typeface="Times New Roman"/>
                <a:ea typeface="Times New Roman"/>
                <a:cs typeface="Times New Roman"/>
                <a:sym typeface="Times New Roman"/>
              </a:rPr>
              <a:t>Link: https://doi.org/10.1109/TIE.2002.801052</a:t>
            </a:r>
          </a:p>
          <a:p>
            <a:pPr algn="l" marL="453390" indent="-226695" lvl="1">
              <a:lnSpc>
                <a:spcPts val="2775"/>
              </a:lnSpc>
              <a:buFont typeface="Arial"/>
              <a:buChar char="•"/>
            </a:pPr>
            <a:r>
              <a:rPr lang="en-US" sz="2400" spc="-15">
                <a:solidFill>
                  <a:srgbClr val="000000"/>
                </a:solidFill>
                <a:latin typeface="Times New Roman"/>
                <a:ea typeface="Times New Roman"/>
                <a:cs typeface="Times New Roman"/>
                <a:sym typeface="Times New Roman"/>
              </a:rPr>
              <a:t>M. Malinowski, K. Gopakumar, J. Rodriguez, and M. A. Perez,“A Survey on Cascaded Multilevel Inverters,” IEEE Transactions on Industrial Electronics, 2010.</a:t>
            </a:r>
          </a:p>
          <a:p>
            <a:pPr algn="l" marL="453390" indent="-226695" lvl="1">
              <a:lnSpc>
                <a:spcPts val="2662"/>
              </a:lnSpc>
            </a:pPr>
            <a:r>
              <a:rPr lang="en-US" sz="2400" spc="-15">
                <a:solidFill>
                  <a:srgbClr val="000000"/>
                </a:solidFill>
                <a:latin typeface="Times New Roman"/>
                <a:ea typeface="Times New Roman"/>
                <a:cs typeface="Times New Roman"/>
                <a:sym typeface="Times New Roman"/>
              </a:rPr>
              <a:t>Link: </a:t>
            </a:r>
            <a:r>
              <a:rPr lang="en-US" sz="2400" spc="-15" u="sng">
                <a:solidFill>
                  <a:srgbClr val="0000FF"/>
                </a:solidFill>
                <a:latin typeface="Times New Roman"/>
                <a:ea typeface="Times New Roman"/>
                <a:cs typeface="Times New Roman"/>
                <a:sym typeface="Times New Roman"/>
                <a:hlinkClick r:id="rId2" tooltip="https://ieeexplore.ieee.org/document/5438870"/>
              </a:rPr>
              <a:t>https://ieeexplore.ieee.org/document/5438870</a:t>
            </a:r>
          </a:p>
          <a:p>
            <a:pPr algn="l" marL="453390" indent="-226695" lvl="1">
              <a:lnSpc>
                <a:spcPts val="2775"/>
              </a:lnSpc>
              <a:buFont typeface="Arial"/>
              <a:buChar char="•"/>
            </a:pPr>
            <a:r>
              <a:rPr lang="en-US" sz="2400" spc="-15">
                <a:solidFill>
                  <a:srgbClr val="000000"/>
                </a:solidFill>
                <a:latin typeface="Times New Roman"/>
                <a:ea typeface="Times New Roman"/>
                <a:cs typeface="Times New Roman"/>
                <a:sym typeface="Times New Roman"/>
              </a:rPr>
              <a:t>K. K. Gupta and S. Jain,“A Novel Multilevel Inverter Based on Switched DC Sources,” IEEE Transactions on Industrial Electronics, 2014.</a:t>
            </a:r>
          </a:p>
          <a:p>
            <a:pPr algn="l" marL="453390" indent="-226695" lvl="1">
              <a:lnSpc>
                <a:spcPts val="2662"/>
              </a:lnSpc>
            </a:pPr>
            <a:r>
              <a:rPr lang="en-US" sz="2400" spc="-15">
                <a:solidFill>
                  <a:srgbClr val="000000"/>
                </a:solidFill>
                <a:latin typeface="Times New Roman"/>
                <a:ea typeface="Times New Roman"/>
                <a:cs typeface="Times New Roman"/>
                <a:sym typeface="Times New Roman"/>
              </a:rPr>
              <a:t>Link: https://ieeexplore.ieee.org/document/6588665</a:t>
            </a:r>
          </a:p>
          <a:p>
            <a:pPr algn="l" marL="453390" indent="-226695" lvl="1">
              <a:lnSpc>
                <a:spcPts val="2775"/>
              </a:lnSpc>
              <a:buFont typeface="Arial"/>
              <a:buChar char="•"/>
            </a:pPr>
            <a:r>
              <a:rPr lang="en-US" sz="2400" spc="-15">
                <a:solidFill>
                  <a:srgbClr val="000000"/>
                </a:solidFill>
                <a:latin typeface="Times New Roman"/>
                <a:ea typeface="Times New Roman"/>
                <a:cs typeface="Times New Roman"/>
                <a:sym typeface="Times New Roman"/>
              </a:rPr>
              <a:t>N. A. Rahim and J. Selvaraj,“Multilevel Inverter for Grid-Connected PV System Employing Digital PI Controller,” IEEE Transactions on Industrial Electronics.</a:t>
            </a:r>
          </a:p>
          <a:p>
            <a:pPr algn="l" marL="453390" indent="-226695" lvl="1">
              <a:lnSpc>
                <a:spcPts val="2662"/>
              </a:lnSpc>
            </a:pPr>
            <a:r>
              <a:rPr lang="en-US" sz="2400" spc="-15">
                <a:solidFill>
                  <a:srgbClr val="000000"/>
                </a:solidFill>
                <a:latin typeface="Times New Roman"/>
                <a:ea typeface="Times New Roman"/>
                <a:cs typeface="Times New Roman"/>
                <a:sym typeface="Times New Roman"/>
              </a:rPr>
              <a:t>Link: </a:t>
            </a:r>
            <a:r>
              <a:rPr lang="en-US" sz="2400" spc="-15" u="sng">
                <a:solidFill>
                  <a:srgbClr val="0000FF"/>
                </a:solidFill>
                <a:latin typeface="Times New Roman"/>
                <a:ea typeface="Times New Roman"/>
                <a:cs typeface="Times New Roman"/>
                <a:sym typeface="Times New Roman"/>
                <a:hlinkClick r:id="rId3" tooltip="https://ieeexplore.ieee.org/"/>
              </a:rPr>
              <a:t>https://ieeexplore.ieee.org</a:t>
            </a:r>
          </a:p>
          <a:p>
            <a:pPr algn="l" marL="453390" indent="-226695" lvl="1">
              <a:lnSpc>
                <a:spcPts val="2775"/>
              </a:lnSpc>
              <a:buFont typeface="Arial"/>
              <a:buChar char="•"/>
            </a:pPr>
            <a:r>
              <a:rPr lang="en-US" sz="2400" spc="-15">
                <a:solidFill>
                  <a:srgbClr val="000000"/>
                </a:solidFill>
                <a:latin typeface="Times New Roman"/>
                <a:ea typeface="Times New Roman"/>
                <a:cs typeface="Times New Roman"/>
                <a:sym typeface="Times New Roman"/>
              </a:rPr>
              <a:t>M. H. Rashid,</a:t>
            </a:r>
            <a:r>
              <a:rPr lang="en-US" sz="2400" i="true" spc="-15">
                <a:solidFill>
                  <a:srgbClr val="000000"/>
                </a:solidFill>
                <a:latin typeface="Times New Roman Italics"/>
                <a:ea typeface="Times New Roman Italics"/>
                <a:cs typeface="Times New Roman Italics"/>
                <a:sym typeface="Times New Roman Italics"/>
              </a:rPr>
              <a:t>Power Electronics: Circuits, Devices and Applications</a:t>
            </a:r>
            <a:r>
              <a:rPr lang="en-US" sz="2400" spc="-15">
                <a:solidFill>
                  <a:srgbClr val="000000"/>
                </a:solidFill>
                <a:latin typeface="Times New Roman"/>
                <a:ea typeface="Times New Roman"/>
                <a:cs typeface="Times New Roman"/>
                <a:sym typeface="Times New Roman"/>
              </a:rPr>
              <a:t>, Pearson. Link: </a:t>
            </a:r>
            <a:r>
              <a:rPr lang="en-US" sz="2400" spc="-15" u="sng">
                <a:solidFill>
                  <a:srgbClr val="0000FF"/>
                </a:solidFill>
                <a:latin typeface="Times New Roman"/>
                <a:ea typeface="Times New Roman"/>
                <a:cs typeface="Times New Roman"/>
                <a:sym typeface="Times New Roman"/>
                <a:hlinkClick r:id="rId4" tooltip="https://www.pearson.com/"/>
              </a:rPr>
              <a:t>https://www.pearson.com</a:t>
            </a:r>
          </a:p>
          <a:p>
            <a:pPr algn="l" marL="453390" indent="-226695" lvl="1">
              <a:lnSpc>
                <a:spcPts val="2775"/>
              </a:lnSpc>
              <a:buFont typeface="Arial"/>
              <a:buChar char="•"/>
            </a:pPr>
            <a:r>
              <a:rPr lang="en-US" sz="2400" spc="-15">
                <a:solidFill>
                  <a:srgbClr val="000000"/>
                </a:solidFill>
                <a:latin typeface="Times New Roman"/>
                <a:ea typeface="Times New Roman"/>
                <a:cs typeface="Times New Roman"/>
                <a:sym typeface="Times New Roman"/>
              </a:rPr>
              <a:t>N. Mohan, T. M. Undeland, and W. P. Robbins,</a:t>
            </a:r>
            <a:r>
              <a:rPr lang="en-US" sz="2400" i="true" spc="-15">
                <a:solidFill>
                  <a:srgbClr val="000000"/>
                </a:solidFill>
                <a:latin typeface="Times New Roman Italics"/>
                <a:ea typeface="Times New Roman Italics"/>
                <a:cs typeface="Times New Roman Italics"/>
                <a:sym typeface="Times New Roman Italics"/>
              </a:rPr>
              <a:t>Power Electronics: Converters, Applications and Design</a:t>
            </a:r>
            <a:r>
              <a:rPr lang="en-US" sz="2400" spc="-15">
                <a:solidFill>
                  <a:srgbClr val="000000"/>
                </a:solidFill>
                <a:latin typeface="Times New Roman"/>
                <a:ea typeface="Times New Roman"/>
                <a:cs typeface="Times New Roman"/>
                <a:sym typeface="Times New Roman"/>
              </a:rPr>
              <a:t>. Link: </a:t>
            </a:r>
            <a:r>
              <a:rPr lang="en-US" sz="2400" spc="-15" u="sng">
                <a:solidFill>
                  <a:srgbClr val="0000FF"/>
                </a:solidFill>
                <a:latin typeface="Times New Roman"/>
                <a:ea typeface="Times New Roman"/>
                <a:cs typeface="Times New Roman"/>
                <a:sym typeface="Times New Roman"/>
                <a:hlinkClick r:id="rId5" tooltip="https://www.wiley.com/"/>
              </a:rPr>
              <a:t>https://www.wiley.com</a:t>
            </a:r>
          </a:p>
          <a:p>
            <a:pPr algn="l" marL="453390" indent="-226695" lvl="1">
              <a:lnSpc>
                <a:spcPts val="2879"/>
              </a:lnSpc>
              <a:buFont typeface="Arial"/>
              <a:buChar char="•"/>
            </a:pPr>
            <a:r>
              <a:rPr lang="en-US" sz="2400" spc="-15">
                <a:solidFill>
                  <a:srgbClr val="000000"/>
                </a:solidFill>
                <a:latin typeface="Times New Roman"/>
                <a:ea typeface="Times New Roman"/>
                <a:cs typeface="Times New Roman"/>
                <a:sym typeface="Times New Roman"/>
              </a:rPr>
              <a:t>B. K. Bose,</a:t>
            </a:r>
            <a:r>
              <a:rPr lang="en-US" sz="2400" i="true" spc="-15">
                <a:solidFill>
                  <a:srgbClr val="000000"/>
                </a:solidFill>
                <a:latin typeface="Times New Roman Italics"/>
                <a:ea typeface="Times New Roman Italics"/>
                <a:cs typeface="Times New Roman Italics"/>
                <a:sym typeface="Times New Roman Italics"/>
              </a:rPr>
              <a:t>Modern Power Electronics and AC Drives</a:t>
            </a:r>
            <a:r>
              <a:rPr lang="en-US" sz="2400" spc="-15">
                <a:solidFill>
                  <a:srgbClr val="000000"/>
                </a:solidFill>
                <a:latin typeface="Times New Roman"/>
                <a:ea typeface="Times New Roman"/>
                <a:cs typeface="Times New Roman"/>
                <a:sym typeface="Times New Roman"/>
              </a:rPr>
              <a:t>.Link: </a:t>
            </a:r>
            <a:r>
              <a:rPr lang="en-US" sz="2400" spc="-15" u="sng">
                <a:solidFill>
                  <a:srgbClr val="0000FF"/>
                </a:solidFill>
                <a:latin typeface="Times New Roman"/>
                <a:ea typeface="Times New Roman"/>
                <a:cs typeface="Times New Roman"/>
                <a:sym typeface="Times New Roman"/>
                <a:hlinkClick r:id="rId6" tooltip="https://www.elsevier.com/"/>
              </a:rPr>
              <a:t>https://www.elsevier.com</a:t>
            </a:r>
          </a:p>
          <a:p>
            <a:pPr algn="l" marL="453390" indent="-226695" lvl="1">
              <a:lnSpc>
                <a:spcPts val="2879"/>
              </a:lnSpc>
              <a:buFont typeface="Arial"/>
              <a:buChar char="•"/>
            </a:pPr>
            <a:r>
              <a:rPr lang="en-US" sz="2400" spc="-15">
                <a:solidFill>
                  <a:srgbClr val="000000"/>
                </a:solidFill>
                <a:latin typeface="Times New Roman"/>
                <a:ea typeface="Times New Roman"/>
                <a:cs typeface="Times New Roman"/>
                <a:sym typeface="Times New Roman"/>
              </a:rPr>
              <a:t>IEEE Xplore Digital LibraryLink: </a:t>
            </a:r>
            <a:r>
              <a:rPr lang="en-US" sz="2400" spc="-15" u="sng">
                <a:solidFill>
                  <a:srgbClr val="0000FF"/>
                </a:solidFill>
                <a:latin typeface="Times New Roman"/>
                <a:ea typeface="Times New Roman"/>
                <a:cs typeface="Times New Roman"/>
                <a:sym typeface="Times New Roman"/>
                <a:hlinkClick r:id="rId7" tooltip="https://ieeexplore.ieee.org/"/>
              </a:rPr>
              <a:t>https://ieeexplore.ieee.org</a:t>
            </a:r>
          </a:p>
          <a:p>
            <a:pPr algn="l" marL="453390" indent="-226695" lvl="1">
              <a:lnSpc>
                <a:spcPts val="2879"/>
              </a:lnSpc>
              <a:buFont typeface="Arial"/>
              <a:buChar char="•"/>
            </a:pPr>
            <a:r>
              <a:rPr lang="en-US" sz="2400" spc="-15">
                <a:solidFill>
                  <a:srgbClr val="000000"/>
                </a:solidFill>
                <a:latin typeface="Times New Roman"/>
                <a:ea typeface="Times New Roman"/>
                <a:cs typeface="Times New Roman"/>
                <a:sym typeface="Times New Roman"/>
              </a:rPr>
              <a:t>ResearchGateLink: </a:t>
            </a:r>
            <a:r>
              <a:rPr lang="en-US" sz="2400" spc="-15" u="sng">
                <a:solidFill>
                  <a:srgbClr val="0000FF"/>
                </a:solidFill>
                <a:latin typeface="Times New Roman"/>
                <a:ea typeface="Times New Roman"/>
                <a:cs typeface="Times New Roman"/>
                <a:sym typeface="Times New Roman"/>
                <a:hlinkClick r:id="rId8" tooltip="https://www.researchgate.net/"/>
              </a:rPr>
              <a:t>https://www.researchgate.net</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268399" y="4219118"/>
            <a:ext cx="8327556" cy="1850968"/>
          </a:xfrm>
          <a:prstGeom prst="rect">
            <a:avLst/>
          </a:prstGeom>
        </p:spPr>
        <p:txBody>
          <a:bodyPr anchor="t" rtlCol="false" tIns="0" lIns="0" bIns="0" rIns="0">
            <a:spAutoFit/>
          </a:bodyPr>
          <a:lstStyle/>
          <a:p>
            <a:pPr algn="l">
              <a:lnSpc>
                <a:spcPts val="13894"/>
              </a:lnSpc>
            </a:pPr>
            <a:r>
              <a:rPr lang="en-US" sz="11578" spc="-81">
                <a:solidFill>
                  <a:srgbClr val="000000"/>
                </a:solidFill>
                <a:latin typeface="Times New Roman"/>
                <a:ea typeface="Times New Roman"/>
                <a:cs typeface="Times New Roman"/>
                <a:sym typeface="Times New Rom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DAHG4mErxVM</dc:identifier>
  <dcterms:modified xsi:type="dcterms:W3CDTF">2011-08-01T06:04:30Z</dcterms:modified>
  <cp:revision>1</cp:revision>
  <dc:title>majorprojectppt_(1).pptx</dc:title>
</cp:coreProperties>
</file>